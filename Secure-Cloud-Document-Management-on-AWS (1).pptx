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12192000"/>
  <p:embeddedFontLst>
    <p:embeddedFont>
      <p:font typeface="Heebo Light" pitchFamily="2" charset="-79"/>
      <p:regular r:id="rId17"/>
    </p:embeddedFont>
    <p:embeddedFont>
      <p:font typeface="Montserrat" panose="00000500000000000000" pitchFamily="2" charset="0"/>
      <p:regular r:id="rId18"/>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160E3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691"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309728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Welcome everyone to CloudVault Eclipse — our secure cloud document management solution • This is a full-stack, cloud-native platform built on AWS infrastructure • Key capabilities: secure document storage, role-based access control, and real-time collaboration • Built with modern tech stack: Python Flask for the backend, AWS S3 for scalable storage, and Docker for containerization • Think of this as an enterprise-grade alternative to traditional file sharing — with security and access controls built in from the ground up • We'll walk through the architecture, features, and how it all comes together
</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Start by emphasizing the pain point — traditional document management systems are holding organizations back
• Local storage creates a false sense of security but actually introduces major risks:
Files stuck on single devices with no cloud backup
One hardware failure = permanent data loss
Teams can't access documents remotely or collaborate effectively
• Scattered documents across multiple devices means no centralized control or visibility
• Security is a major gap — no encryption, no access controls, everyone has the same permissions regardless of role
• These limitations force organizations to work inefficiently and expose them to unnecessary risk
• This is exactly what CloudVault Eclipse was built to address — we solve all six of these critical problems with one integrated solution
</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We set out to build a secure document management system with five core objectives
• Secure Document Storage — All files are encrypted and stored on AWS S3 with strict access controls to protect sensitive data
• Cloud-Based Access — Users can retrieve their documents from anywhere, anytime through a web interface for maximum convenience
• Email OTP Verification — We implemented two-factor authentication using one-time passwords sent via email to ensure only authorized users can access the system
• Role-Based Access Control — The system distinguishes between admin and user roles, each with their own set of permissions and capabilities
• Docker Deployment — We containerized the entire application so it runs consistently across different environments and is easy to deploy and scale
</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Frontend — Built with HTML5, CSS3, and JavaScript for a responsive, modern user interface that works across devices
• Backend — Python Flask provides a lightweight and flexible framework for handling business logic and API requests
• Database — SQLite stores all user accounts, roles, and document metadata efficiently
• Cloud Storage — Amazon S3 gives us scalable, reliable object storage for documents with built-in redundancy
• Deployment — Docker containerization ensures the application runs consistently across different environments
• Authentication — Email OTP provides secure two-factor verification to protect user accounts
• Security — We use password hashing to encrypt credentials before storage, and role-based access control to ensure users only access what they're authorized to see
</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Three-tier architecture keeps everything organized and scalable
• Outermost layer — User Interface: Web browser client where users interact with the system
• Middle layer — Flask Backend: The brain of the operation
Handles user authentication and security
Processes all incoming requests
Manages document metadata in SQLite
Communicates with AWS S3 for file storage
• Inner layer — Data &amp; Deployment: The foundation
SQLite database for structured data
S3 storage for reliable, durable file handling
Docker containerization ensures consistent deployment anywhere
• This clean separation means each component has a specific job, making the system easier to maintain, scale, and debug
</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Walk through the architecture diagram from left to right • Point out the key components and how they interact with each other • Highlight the data flow and connections between layers • Emphasize how this design supports scalability and modularity • Note any critical dependencies or integration points • Connect back to how this architecture enables the features/benefits discussed earlier
</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This is the User Module – the core end-user experience of our platform
• On the left you'll see the user dashboard interface – a clean, intuitive workspace where users manage their activity
• Let me walk you through the three key features:
Authentication Flow – We've implemented a secure multi-step process: users register, log in, verify their email with an OTP, and then get a secure session. This ensures we're protecting user accounts from the start.
Document Operations – Users have full control over their documents. They can upload new files, search through existing ones, download what they need, and delete documents they no longer want. Everything happens from their personalized dashboard.
Profile Management – Users can keep their information current by updating profile details whenever needed, and they can change their password securely if required.
The whole experience is designed to be straightforward and secure – users get what they need without unnecessary complexity.
</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This is the Admin Module – the administrative control center of our system
• Three key capabilities:
Admin Login: Administrators have a dedicated, secure authentication system separate from regular users. This ensures only authorized personnel can access admin functions.
User Management: Admins have full control to promote users to higher roles or delete accounts as needed. This gives you complete flexibility in managing your user base.
Storage Monitoring: Track your AWS S3 usage and document storage metrics in real-time. This helps you stay on top of your infrastructure costs and capacity.
</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Walk through the five-step process: Upload → Authenticate → Store → Save Metadata → Download
• Emphasize security: all documents are securely transferred to Amazon S3
• Explain Flask's role: handles authentication and authorization before any file operation occurs
• Highlight the metadata strategy: document owner, name, and timestamp stored in SQLite
• Note the efficiency benefit: metadata in SQLite allows fast search and access control without needing to query S3 directly — keeps operations lean and responsive
• This architecture separates concerns: S3 handles file storage, SQLite handles quick lookups and permissions
</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CloudVault Eclipse is fully containerized with Docker — everything the app needs is packaged into one portable image • This ensures the application behaves exactly the same whether it's running on your laptop, a test server, or production
Key benefits: • Easy Deployment — Just one command to get the entire stack up and running • Portability — The container works identically on any machine that has Docker installed, no matter the underlying OS or configuration • Consistency — Eliminates those frustrating "it works on my machine" problems by removing environment-specific variables
</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Security First — We've implemented multiple layers of protection: OTP verification for authentication, role-based access control to limit what users can do, and encrypted storage in the cloud. This ensures your data is protected at every step.
• Cloud-Native Architecture — We built this on AWS S3, which gives us scalability and durability. Your documents are stored reliably and can grow with demand without infrastructure headaches.
• Containerized Deployment — Using Docker means the application runs the same way everywhere—your laptop, a test server, or production. No more "it works on my machine" problems.
• Role-Based Access — We've separated Admin and User functionality with granular permissions. Admins manage the system, users access their documents. Everyone gets exactly what they need, nothing more.
• Bottom line — CloudVault Eclipse brings together cloud security best practices, modern full-stack development, and DevOps principles in one working application.
</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CloudVault Eclipse is designed to grow with your needs—we have an exciting roadmap ahead
• Enhanced Search &amp; OCR: We're adding full-text search so you can find anything instantly, plus OCR technology to make scanned documents searchable and accessible
• Advanced Collaboration: Teams will be able to edit documents together in real-time, track version history, and securely share with external partners without compromising security
• Audit Trails &amp; Reporting: Complete logging of all document activities—essential for compliance, security audits, and giving administrators full visibility into what's happening in the system
• Mobile Access: Dedicated iOS and Android apps coming soon so your team can securely access documents anytime, anywhere
• These enhancements reflect our commitment to making CloudVault Eclipse the most secure and efficient collaboration platform available
</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This is your closing statement—bring energy and confidence • Emphasize that CloudVault Eclipse isn't just a tool, it's a transformative solution • Hit the three key pillars: modern, secure, and accessible • Transition to discussion/Q&amp;A—invite audience to share their thoughts on how this could work for their organization • Reinforce that you're ready to explore how this addresses their specific data management challenges
</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BE5DFF"/>
          </a:solidFill>
          <a:ln/>
        </p:spPr>
      </p:sp>
      <p:sp>
        <p:nvSpPr>
          <p:cNvPr id="3" name="Shape 1"/>
          <p:cNvSpPr/>
          <p:nvPr/>
        </p:nvSpPr>
        <p:spPr>
          <a:xfrm>
            <a:off x="0" y="0"/>
            <a:ext cx="12191695" cy="6858000"/>
          </a:xfrm>
          <a:prstGeom prst="rect">
            <a:avLst/>
          </a:prstGeom>
          <a:solidFill>
            <a:srgbClr val="0D0A2C">
              <a:alpha val="95000"/>
            </a:srgbClr>
          </a:solidFill>
          <a:ln/>
        </p:spPr>
      </p:sp>
      <p:pic>
        <p:nvPicPr>
          <p:cNvPr id="4" name="Image 0" descr="preencoded.png">
            <a:hlinkClick r:id="rId2"/>
          </p:cNvPr>
          <p:cNvPicPr>
            <a:picLocks noChangeAspect="1"/>
          </p:cNvPicPr>
          <p:nvPr/>
        </p:nvPicPr>
        <p:blipFill>
          <a:blip r:embed="rId3"/>
          <a:stretch>
            <a:fillRect/>
          </a:stretch>
        </p:blipFill>
        <p:spPr>
          <a:xfrm>
            <a:off x="11076875" y="6558991"/>
            <a:ext cx="1071843" cy="256032"/>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svg"/><Relationship Id="rId7" Type="http://schemas.openxmlformats.org/officeDocument/2006/relationships/image" Target="../media/image10.sv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9.svg"/><Relationship Id="rId5" Type="http://schemas.openxmlformats.org/officeDocument/2006/relationships/image" Target="../media/image8.svg"/><Relationship Id="rId4" Type="http://schemas.openxmlformats.org/officeDocument/2006/relationships/image" Target="../media/image7.svg"/></Relationships>
</file>

<file path=ppt/slides/_rels/slide5.xml.rels><?xml version="1.0" encoding="UTF-8" standalone="yes"?>
<Relationships xmlns="http://schemas.openxmlformats.org/package/2006/relationships"><Relationship Id="rId8" Type="http://schemas.openxmlformats.org/officeDocument/2006/relationships/image" Target="../media/image16.svg"/><Relationship Id="rId3" Type="http://schemas.openxmlformats.org/officeDocument/2006/relationships/image" Target="../media/image11.svg"/><Relationship Id="rId7" Type="http://schemas.openxmlformats.org/officeDocument/2006/relationships/image" Target="../media/image15.sv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4.svg"/><Relationship Id="rId5" Type="http://schemas.openxmlformats.org/officeDocument/2006/relationships/image" Target="../media/image13.svg"/><Relationship Id="rId4" Type="http://schemas.openxmlformats.org/officeDocument/2006/relationships/image" Target="../media/image12.svg"/><Relationship Id="rId9" Type="http://schemas.openxmlformats.org/officeDocument/2006/relationships/image" Target="../media/image17.svg"/></Relationships>
</file>

<file path=ppt/slides/_rels/slide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21.svg"/></Relationships>
</file>

<file path=ppt/slides/_rels/slide9.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24.svg"/><Relationship Id="rId4" Type="http://schemas.openxmlformats.org/officeDocument/2006/relationships/image" Target="../media/image23.svg"/></Relationships>
</file>

<file path=ppt/slides/_rels/slide1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27.svg"/></Relationships>
</file>

<file path=ppt/slides/_rels/slide12.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image" Target="../media/image28.jpeg"/><Relationship Id="rId7" Type="http://schemas.openxmlformats.org/officeDocument/2006/relationships/image" Target="../media/image32.sv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31.svg"/><Relationship Id="rId5" Type="http://schemas.openxmlformats.org/officeDocument/2006/relationships/image" Target="../media/image30.svg"/><Relationship Id="rId4" Type="http://schemas.openxmlformats.org/officeDocument/2006/relationships/image" Target="../media/image29.svg"/></Relationships>
</file>

<file path=ppt/slides/_rels/slide13.xml.rels><?xml version="1.0" encoding="UTF-8" standalone="yes"?>
<Relationships xmlns="http://schemas.openxmlformats.org/package/2006/relationships"><Relationship Id="rId3" Type="http://schemas.openxmlformats.org/officeDocument/2006/relationships/image" Target="../media/image34.sv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37.svg"/><Relationship Id="rId5" Type="http://schemas.openxmlformats.org/officeDocument/2006/relationships/image" Target="../media/image36.svg"/><Relationship Id="rId4" Type="http://schemas.openxmlformats.org/officeDocument/2006/relationships/image" Target="../media/image35.svg"/></Relationships>
</file>

<file path=ppt/slides/_rels/slide14.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619809" y="0"/>
            <a:ext cx="4571886" cy="6858000"/>
          </a:xfrm>
          <a:prstGeom prst="rect">
            <a:avLst/>
          </a:prstGeom>
        </p:spPr>
      </p:pic>
      <p:sp>
        <p:nvSpPr>
          <p:cNvPr id="3" name="Text 0"/>
          <p:cNvSpPr/>
          <p:nvPr/>
        </p:nvSpPr>
        <p:spPr>
          <a:xfrm>
            <a:off x="661475" y="766167"/>
            <a:ext cx="6296860" cy="590649"/>
          </a:xfrm>
          <a:prstGeom prst="rect">
            <a:avLst/>
          </a:prstGeom>
          <a:noFill/>
          <a:ln/>
        </p:spPr>
        <p:txBody>
          <a:bodyPr wrap="none" lIns="0" tIns="0" rIns="0" bIns="0" rtlCol="0" anchor="t"/>
          <a:lstStyle/>
          <a:p>
            <a:pPr marL="0" indent="0" algn="l">
              <a:lnSpc>
                <a:spcPct val="104000"/>
              </a:lnSpc>
              <a:buNone/>
            </a:pPr>
            <a:r>
              <a:rPr lang="en-US" sz="3700" dirty="0">
                <a:solidFill>
                  <a:srgbClr val="F2F0F4"/>
                </a:solidFill>
                <a:latin typeface="Montserrat" pitchFamily="34" charset="0"/>
                <a:ea typeface="Montserrat" pitchFamily="34" charset="-122"/>
                <a:cs typeface="Montserrat" pitchFamily="34" charset="-120"/>
              </a:rPr>
              <a:t>CloudVault Eclipse</a:t>
            </a:r>
            <a:endParaRPr lang="en-US" sz="3700" dirty="0"/>
          </a:p>
        </p:txBody>
      </p:sp>
      <p:sp>
        <p:nvSpPr>
          <p:cNvPr id="4" name="Text 1"/>
          <p:cNvSpPr/>
          <p:nvPr/>
        </p:nvSpPr>
        <p:spPr>
          <a:xfrm>
            <a:off x="661475" y="1640284"/>
            <a:ext cx="6296860" cy="3260725"/>
          </a:xfrm>
          <a:prstGeom prst="rect">
            <a:avLst/>
          </a:prstGeom>
          <a:noFill/>
          <a:ln/>
        </p:spPr>
        <p:txBody>
          <a:bodyPr wrap="square" lIns="0" tIns="0" rIns="0" bIns="0" rtlCol="0" anchor="t">
            <a:normAutofit/>
          </a:bodyPr>
          <a:lstStyle/>
          <a:p>
            <a:pPr marL="0" indent="0" algn="l">
              <a:lnSpc>
                <a:spcPct val="104000"/>
              </a:lnSpc>
              <a:buNone/>
            </a:pPr>
            <a:r>
              <a:rPr lang="en-US" sz="5100" dirty="0">
                <a:solidFill>
                  <a:srgbClr val="F2F0F4"/>
                </a:solidFill>
                <a:latin typeface="Montserrat" pitchFamily="34" charset="0"/>
                <a:ea typeface="Montserrat" pitchFamily="34" charset="-122"/>
                <a:cs typeface="Montserrat" pitchFamily="34" charset="-120"/>
              </a:rPr>
              <a:t>Secure Cloud Document Management on AWS</a:t>
            </a:r>
            <a:endParaRPr lang="en-US" sz="5100" dirty="0"/>
          </a:p>
        </p:txBody>
      </p:sp>
      <p:sp>
        <p:nvSpPr>
          <p:cNvPr id="5" name="Text 2"/>
          <p:cNvSpPr/>
          <p:nvPr/>
        </p:nvSpPr>
        <p:spPr>
          <a:xfrm>
            <a:off x="661475" y="5184477"/>
            <a:ext cx="6296860" cy="907256"/>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DCD7E5"/>
                </a:solidFill>
                <a:latin typeface="Heebo Light" pitchFamily="34" charset="0"/>
                <a:ea typeface="Heebo Light" pitchFamily="34" charset="-122"/>
                <a:cs typeface="Heebo Light" pitchFamily="34" charset="-120"/>
              </a:rPr>
              <a:t>A full-stack, cloud-native platform for secure document storage, role-based access control, and seamless collaboration — built with Python Flask, AWS S3, and Docker.</a:t>
            </a:r>
            <a:endParaRPr lang="en-US" sz="145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619809" y="0"/>
            <a:ext cx="4571886" cy="6858000"/>
          </a:xfrm>
          <a:prstGeom prst="rect">
            <a:avLst/>
          </a:prstGeom>
        </p:spPr>
      </p:pic>
      <p:sp>
        <p:nvSpPr>
          <p:cNvPr id="3" name="Text 0"/>
          <p:cNvSpPr/>
          <p:nvPr/>
        </p:nvSpPr>
        <p:spPr>
          <a:xfrm>
            <a:off x="661475" y="661789"/>
            <a:ext cx="6296860" cy="1004094"/>
          </a:xfrm>
          <a:prstGeom prst="rect">
            <a:avLst/>
          </a:prstGeom>
          <a:noFill/>
          <a:ln/>
        </p:spPr>
        <p:txBody>
          <a:bodyPr wrap="square" lIns="0" tIns="0" rIns="0" bIns="0" rtlCol="0" anchor="t">
            <a:normAutofit/>
          </a:bodyPr>
          <a:lstStyle/>
          <a:p>
            <a:pPr marL="0" indent="0" algn="l">
              <a:lnSpc>
                <a:spcPct val="104000"/>
              </a:lnSpc>
              <a:buNone/>
            </a:pPr>
            <a:r>
              <a:rPr lang="en-US" sz="3150" dirty="0">
                <a:solidFill>
                  <a:srgbClr val="F2F0F4"/>
                </a:solidFill>
                <a:latin typeface="Montserrat" pitchFamily="34" charset="0"/>
                <a:ea typeface="Montserrat" pitchFamily="34" charset="-122"/>
                <a:cs typeface="Montserrat" pitchFamily="34" charset="-120"/>
              </a:rPr>
              <a:t>Why Traditional Document Management Falls Short</a:t>
            </a:r>
            <a:endParaRPr lang="en-US" sz="3150" dirty="0"/>
          </a:p>
        </p:txBody>
      </p:sp>
      <p:sp>
        <p:nvSpPr>
          <p:cNvPr id="4" name="Text 1"/>
          <p:cNvSpPr/>
          <p:nvPr/>
        </p:nvSpPr>
        <p:spPr>
          <a:xfrm>
            <a:off x="661475" y="1870670"/>
            <a:ext cx="6906444" cy="237728"/>
          </a:xfrm>
          <a:prstGeom prst="rect">
            <a:avLst/>
          </a:prstGeom>
          <a:noFill/>
          <a:ln/>
        </p:spPr>
        <p:txBody>
          <a:bodyPr wrap="none" lIns="0" tIns="0" rIns="0" bIns="0" rtlCol="0" anchor="t"/>
          <a:lstStyle/>
          <a:p>
            <a:pPr marL="0" indent="0" algn="l">
              <a:lnSpc>
                <a:spcPct val="123000"/>
              </a:lnSpc>
              <a:buNone/>
            </a:pPr>
            <a:r>
              <a:rPr lang="en-US" sz="1250" dirty="0">
                <a:solidFill>
                  <a:srgbClr val="DCD7E5"/>
                </a:solidFill>
                <a:latin typeface="Heebo Light" pitchFamily="34" charset="0"/>
                <a:ea typeface="Heebo Light" pitchFamily="34" charset="-122"/>
                <a:cs typeface="Heebo Light" pitchFamily="34" charset="-120"/>
              </a:rPr>
              <a:t>Outdated systems create friction, risk, and costly overhead for modern enterprises.</a:t>
            </a:r>
            <a:endParaRPr lang="en-US" sz="1250" dirty="0"/>
          </a:p>
        </p:txBody>
      </p:sp>
      <p:sp>
        <p:nvSpPr>
          <p:cNvPr id="5" name="Shape 2"/>
          <p:cNvSpPr/>
          <p:nvPr/>
        </p:nvSpPr>
        <p:spPr>
          <a:xfrm>
            <a:off x="661475" y="2415580"/>
            <a:ext cx="2149818" cy="1514475"/>
          </a:xfrm>
          <a:prstGeom prst="roundRect">
            <a:avLst>
              <a:gd name="adj" fmla="val 4456"/>
            </a:avLst>
          </a:prstGeom>
          <a:solidFill>
            <a:srgbClr val="31136C"/>
          </a:solidFill>
          <a:ln/>
        </p:spPr>
      </p:sp>
      <p:pic>
        <p:nvPicPr>
          <p:cNvPr id="6" name="Image 1" descr="preencoded.png"/>
          <p:cNvPicPr>
            <a:picLocks noChangeAspect="1"/>
          </p:cNvPicPr>
          <p:nvPr/>
        </p:nvPicPr>
        <p:blipFill>
          <a:blip r:embed="rId4"/>
          <a:stretch>
            <a:fillRect/>
          </a:stretch>
        </p:blipFill>
        <p:spPr>
          <a:xfrm>
            <a:off x="822106" y="2688828"/>
            <a:ext cx="200814" cy="160635"/>
          </a:xfrm>
          <a:prstGeom prst="rect">
            <a:avLst/>
          </a:prstGeom>
        </p:spPr>
      </p:pic>
      <p:sp>
        <p:nvSpPr>
          <p:cNvPr id="7" name="Text 3"/>
          <p:cNvSpPr/>
          <p:nvPr/>
        </p:nvSpPr>
        <p:spPr>
          <a:xfrm>
            <a:off x="1183551" y="2578497"/>
            <a:ext cx="1467111" cy="1188641"/>
          </a:xfrm>
          <a:prstGeom prst="rect">
            <a:avLst/>
          </a:prstGeom>
          <a:noFill/>
          <a:ln/>
        </p:spPr>
        <p:txBody>
          <a:bodyPr wrap="square" lIns="0" tIns="0" rIns="0" bIns="0" rtlCol="0" anchor="t">
            <a:normAutofit/>
          </a:bodyPr>
          <a:lstStyle/>
          <a:p>
            <a:pPr marL="0" indent="0" algn="l">
              <a:lnSpc>
                <a:spcPct val="123000"/>
              </a:lnSpc>
              <a:buNone/>
            </a:pPr>
            <a:r>
              <a:rPr lang="en-US" sz="1250" dirty="0">
                <a:solidFill>
                  <a:srgbClr val="FFFFFF"/>
                </a:solidFill>
                <a:latin typeface="Heebo Light" pitchFamily="34" charset="0"/>
                <a:ea typeface="Heebo Light" pitchFamily="34" charset="-122"/>
                <a:cs typeface="Heebo Light" pitchFamily="34" charset="-120"/>
              </a:rPr>
              <a:t>Outdated systems create friction, risk, and costly overhead for modern enterprises.</a:t>
            </a:r>
            <a:endParaRPr lang="en-US" sz="1250" dirty="0"/>
          </a:p>
        </p:txBody>
      </p:sp>
      <p:sp>
        <p:nvSpPr>
          <p:cNvPr id="8" name="Shape 4"/>
          <p:cNvSpPr/>
          <p:nvPr/>
        </p:nvSpPr>
        <p:spPr>
          <a:xfrm>
            <a:off x="3209547" y="2669480"/>
            <a:ext cx="3755038" cy="19050"/>
          </a:xfrm>
          <a:prstGeom prst="rect">
            <a:avLst/>
          </a:prstGeom>
          <a:solidFill>
            <a:srgbClr val="581CA0"/>
          </a:solidFill>
          <a:ln/>
        </p:spPr>
      </p:sp>
      <p:sp>
        <p:nvSpPr>
          <p:cNvPr id="9" name="Text 5"/>
          <p:cNvSpPr/>
          <p:nvPr/>
        </p:nvSpPr>
        <p:spPr>
          <a:xfrm>
            <a:off x="3209547" y="2787848"/>
            <a:ext cx="3755038" cy="251023"/>
          </a:xfrm>
          <a:prstGeom prst="rect">
            <a:avLst/>
          </a:prstGeom>
          <a:noFill/>
          <a:ln/>
        </p:spPr>
        <p:txBody>
          <a:bodyPr wrap="none" lIns="0" tIns="0" rIns="0" bIns="0" rtlCol="0" anchor="t"/>
          <a:lstStyle/>
          <a:p>
            <a:pPr marL="0" indent="0" algn="l">
              <a:lnSpc>
                <a:spcPct val="104000"/>
              </a:lnSpc>
              <a:buNone/>
            </a:pPr>
            <a:r>
              <a:rPr lang="en-US" sz="1550" dirty="0">
                <a:solidFill>
                  <a:srgbClr val="FF0000"/>
                </a:solidFill>
                <a:latin typeface="Montserrat" pitchFamily="34" charset="0"/>
                <a:ea typeface="Montserrat" pitchFamily="34" charset="-122"/>
                <a:cs typeface="Montserrat" pitchFamily="34" charset="-120"/>
              </a:rPr>
              <a:t>Fragmented Access &amp; Collaboration</a:t>
            </a:r>
            <a:endParaRPr lang="en-US" sz="1550" dirty="0"/>
          </a:p>
        </p:txBody>
      </p:sp>
      <p:sp>
        <p:nvSpPr>
          <p:cNvPr id="10" name="Text 6"/>
          <p:cNvSpPr/>
          <p:nvPr/>
        </p:nvSpPr>
        <p:spPr>
          <a:xfrm>
            <a:off x="3209547" y="3175397"/>
            <a:ext cx="3755038" cy="237728"/>
          </a:xfrm>
          <a:prstGeom prst="rect">
            <a:avLst/>
          </a:prstGeom>
          <a:noFill/>
          <a:ln/>
        </p:spPr>
        <p:txBody>
          <a:bodyPr wrap="none" lIns="0" tIns="0" rIns="0" bIns="0" rtlCol="0" anchor="t"/>
          <a:lstStyle/>
          <a:p>
            <a:pPr marL="0" indent="0" algn="l">
              <a:lnSpc>
                <a:spcPct val="123000"/>
              </a:lnSpc>
              <a:buNone/>
            </a:pPr>
            <a:r>
              <a:rPr lang="en-US" sz="1250" dirty="0">
                <a:solidFill>
                  <a:srgbClr val="DCD7E5"/>
                </a:solidFill>
                <a:latin typeface="Heebo Light" pitchFamily="34" charset="0"/>
                <a:ea typeface="Heebo Light" pitchFamily="34" charset="-122"/>
                <a:cs typeface="Heebo Light" pitchFamily="34" charset="-120"/>
              </a:rPr>
              <a:t>Siloed files slow sharing and make teamwork harder.</a:t>
            </a:r>
            <a:endParaRPr lang="en-US" sz="1250" dirty="0"/>
          </a:p>
        </p:txBody>
      </p:sp>
      <p:sp>
        <p:nvSpPr>
          <p:cNvPr id="11" name="Shape 7"/>
          <p:cNvSpPr/>
          <p:nvPr/>
        </p:nvSpPr>
        <p:spPr>
          <a:xfrm>
            <a:off x="3209547" y="3907929"/>
            <a:ext cx="3755038" cy="19050"/>
          </a:xfrm>
          <a:prstGeom prst="rect">
            <a:avLst/>
          </a:prstGeom>
          <a:solidFill>
            <a:srgbClr val="581CA0"/>
          </a:solidFill>
          <a:ln/>
        </p:spPr>
      </p:sp>
      <p:sp>
        <p:nvSpPr>
          <p:cNvPr id="12" name="Text 8"/>
          <p:cNvSpPr/>
          <p:nvPr/>
        </p:nvSpPr>
        <p:spPr>
          <a:xfrm>
            <a:off x="3209547" y="4042370"/>
            <a:ext cx="3755038" cy="251023"/>
          </a:xfrm>
          <a:prstGeom prst="rect">
            <a:avLst/>
          </a:prstGeom>
          <a:noFill/>
          <a:ln/>
        </p:spPr>
        <p:txBody>
          <a:bodyPr wrap="none" lIns="0" tIns="0" rIns="0" bIns="0" rtlCol="0" anchor="t"/>
          <a:lstStyle/>
          <a:p>
            <a:pPr marL="0" indent="0" algn="l">
              <a:lnSpc>
                <a:spcPct val="104000"/>
              </a:lnSpc>
              <a:buNone/>
            </a:pPr>
            <a:r>
              <a:rPr lang="en-US" sz="1550" dirty="0">
                <a:solidFill>
                  <a:srgbClr val="FF0000"/>
                </a:solidFill>
                <a:latin typeface="Montserrat" pitchFamily="34" charset="0"/>
                <a:ea typeface="Montserrat" pitchFamily="34" charset="-122"/>
                <a:cs typeface="Montserrat" pitchFamily="34" charset="-120"/>
              </a:rPr>
              <a:t>Vulnerable Security &amp; Compliance</a:t>
            </a:r>
            <a:endParaRPr lang="en-US" sz="1550" dirty="0"/>
          </a:p>
        </p:txBody>
      </p:sp>
      <p:sp>
        <p:nvSpPr>
          <p:cNvPr id="13" name="Text 9"/>
          <p:cNvSpPr/>
          <p:nvPr/>
        </p:nvSpPr>
        <p:spPr>
          <a:xfrm>
            <a:off x="3209547" y="4429919"/>
            <a:ext cx="3755038" cy="237728"/>
          </a:xfrm>
          <a:prstGeom prst="rect">
            <a:avLst/>
          </a:prstGeom>
          <a:noFill/>
          <a:ln/>
        </p:spPr>
        <p:txBody>
          <a:bodyPr wrap="none" lIns="0" tIns="0" rIns="0" bIns="0" rtlCol="0" anchor="t"/>
          <a:lstStyle/>
          <a:p>
            <a:pPr marL="0" indent="0" algn="l">
              <a:lnSpc>
                <a:spcPct val="123000"/>
              </a:lnSpc>
              <a:buNone/>
            </a:pPr>
            <a:r>
              <a:rPr lang="en-US" sz="1250" dirty="0">
                <a:solidFill>
                  <a:srgbClr val="DCD7E5"/>
                </a:solidFill>
                <a:latin typeface="Heebo Light" pitchFamily="34" charset="0"/>
                <a:ea typeface="Heebo Light" pitchFamily="34" charset="-122"/>
                <a:cs typeface="Heebo Light" pitchFamily="34" charset="-120"/>
              </a:rPr>
              <a:t>Limited controls leave sensitive data exposed.</a:t>
            </a:r>
            <a:endParaRPr lang="en-US" sz="1250" dirty="0"/>
          </a:p>
        </p:txBody>
      </p:sp>
      <p:sp>
        <p:nvSpPr>
          <p:cNvPr id="14" name="Shape 10"/>
          <p:cNvSpPr/>
          <p:nvPr/>
        </p:nvSpPr>
        <p:spPr>
          <a:xfrm>
            <a:off x="3209547" y="5146477"/>
            <a:ext cx="3755038" cy="19050"/>
          </a:xfrm>
          <a:prstGeom prst="rect">
            <a:avLst/>
          </a:prstGeom>
          <a:solidFill>
            <a:srgbClr val="581CA0"/>
          </a:solidFill>
          <a:ln/>
        </p:spPr>
      </p:sp>
      <p:sp>
        <p:nvSpPr>
          <p:cNvPr id="15" name="Text 11"/>
          <p:cNvSpPr/>
          <p:nvPr/>
        </p:nvSpPr>
        <p:spPr>
          <a:xfrm>
            <a:off x="3209547" y="5296892"/>
            <a:ext cx="3755038" cy="251023"/>
          </a:xfrm>
          <a:prstGeom prst="rect">
            <a:avLst/>
          </a:prstGeom>
          <a:noFill/>
          <a:ln/>
        </p:spPr>
        <p:txBody>
          <a:bodyPr wrap="none" lIns="0" tIns="0" rIns="0" bIns="0" rtlCol="0" anchor="t"/>
          <a:lstStyle/>
          <a:p>
            <a:pPr marL="0" indent="0" algn="l">
              <a:lnSpc>
                <a:spcPct val="104000"/>
              </a:lnSpc>
              <a:buNone/>
            </a:pPr>
            <a:r>
              <a:rPr lang="en-US" sz="1550" dirty="0">
                <a:solidFill>
                  <a:srgbClr val="FF0000"/>
                </a:solidFill>
                <a:latin typeface="Montserrat" pitchFamily="34" charset="0"/>
                <a:ea typeface="Montserrat" pitchFamily="34" charset="-122"/>
                <a:cs typeface="Montserrat" pitchFamily="34" charset="-120"/>
              </a:rPr>
              <a:t>Scalability &amp; Maintenance Burden</a:t>
            </a:r>
            <a:endParaRPr lang="en-US" sz="1550" dirty="0"/>
          </a:p>
        </p:txBody>
      </p:sp>
      <p:sp>
        <p:nvSpPr>
          <p:cNvPr id="16" name="Text 12"/>
          <p:cNvSpPr/>
          <p:nvPr/>
        </p:nvSpPr>
        <p:spPr>
          <a:xfrm>
            <a:off x="3209547" y="5684441"/>
            <a:ext cx="3755038" cy="237728"/>
          </a:xfrm>
          <a:prstGeom prst="rect">
            <a:avLst/>
          </a:prstGeom>
          <a:noFill/>
          <a:ln/>
        </p:spPr>
        <p:txBody>
          <a:bodyPr wrap="none" lIns="0" tIns="0" rIns="0" bIns="0" rtlCol="0" anchor="t"/>
          <a:lstStyle/>
          <a:p>
            <a:pPr marL="0" indent="0" algn="l">
              <a:lnSpc>
                <a:spcPct val="123000"/>
              </a:lnSpc>
              <a:buNone/>
            </a:pPr>
            <a:r>
              <a:rPr lang="en-US" sz="1250" dirty="0">
                <a:solidFill>
                  <a:srgbClr val="DCD7E5"/>
                </a:solidFill>
                <a:latin typeface="Heebo Light" pitchFamily="34" charset="0"/>
                <a:ea typeface="Heebo Light" pitchFamily="34" charset="-122"/>
                <a:cs typeface="Heebo Light" pitchFamily="34" charset="-120"/>
              </a:rPr>
              <a:t>Growth drives upgrades, downtime, and IT overhead.</a:t>
            </a:r>
            <a:endParaRPr lang="en-US" sz="1250" dirty="0"/>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661475" y="596503"/>
            <a:ext cx="1183849" cy="243979"/>
          </a:xfrm>
          <a:prstGeom prst="roundRect">
            <a:avLst>
              <a:gd name="adj" fmla="val 22126"/>
            </a:avLst>
          </a:prstGeom>
          <a:noFill/>
          <a:ln w="6350">
            <a:solidFill>
              <a:srgbClr val="481C9E"/>
            </a:solidFill>
            <a:prstDash val="solid"/>
          </a:ln>
        </p:spPr>
      </p:sp>
      <p:sp>
        <p:nvSpPr>
          <p:cNvPr id="3" name="Text 1"/>
          <p:cNvSpPr/>
          <p:nvPr/>
        </p:nvSpPr>
        <p:spPr>
          <a:xfrm>
            <a:off x="757814" y="644624"/>
            <a:ext cx="1600755" cy="147737"/>
          </a:xfrm>
          <a:prstGeom prst="rect">
            <a:avLst/>
          </a:prstGeom>
          <a:noFill/>
          <a:ln/>
        </p:spPr>
        <p:txBody>
          <a:bodyPr wrap="none" lIns="0" tIns="0" rIns="0" bIns="0" rtlCol="0" anchor="t"/>
          <a:lstStyle/>
          <a:p>
            <a:pPr marL="0" indent="0" algn="l">
              <a:lnSpc>
                <a:spcPct val="96000"/>
              </a:lnSpc>
              <a:buNone/>
            </a:pPr>
            <a:r>
              <a:rPr lang="en-US" sz="1000" dirty="0">
                <a:solidFill>
                  <a:srgbClr val="481C9E"/>
                </a:solidFill>
                <a:latin typeface="Heebo Light" pitchFamily="34" charset="0"/>
                <a:ea typeface="Heebo Light" pitchFamily="34" charset="-122"/>
                <a:cs typeface="Heebo Light" pitchFamily="34" charset="-120"/>
              </a:rPr>
              <a:t>THE CHALLENGE</a:t>
            </a:r>
            <a:endParaRPr lang="en-US" sz="1000" dirty="0"/>
          </a:p>
        </p:txBody>
      </p:sp>
      <p:sp>
        <p:nvSpPr>
          <p:cNvPr id="4" name="Text 2"/>
          <p:cNvSpPr/>
          <p:nvPr/>
        </p:nvSpPr>
        <p:spPr>
          <a:xfrm>
            <a:off x="661475" y="895052"/>
            <a:ext cx="10868745" cy="401638"/>
          </a:xfrm>
          <a:prstGeom prst="rect">
            <a:avLst/>
          </a:prstGeom>
          <a:noFill/>
          <a:ln/>
        </p:spPr>
        <p:txBody>
          <a:bodyPr wrap="none" lIns="0" tIns="0" rIns="0" bIns="0" rtlCol="0" anchor="t"/>
          <a:lstStyle/>
          <a:p>
            <a:pPr marL="0" indent="0" algn="l">
              <a:lnSpc>
                <a:spcPct val="104000"/>
              </a:lnSpc>
              <a:buNone/>
            </a:pPr>
            <a:r>
              <a:rPr lang="en-US" sz="2500" dirty="0">
                <a:solidFill>
                  <a:srgbClr val="F2F0F4"/>
                </a:solidFill>
                <a:latin typeface="Montserrat" pitchFamily="34" charset="0"/>
                <a:ea typeface="Montserrat" pitchFamily="34" charset="-122"/>
                <a:cs typeface="Montserrat" pitchFamily="34" charset="-120"/>
              </a:rPr>
              <a:t>Why Traditional Document Management Falls Short</a:t>
            </a:r>
            <a:endParaRPr lang="en-US" sz="2500" dirty="0"/>
          </a:p>
        </p:txBody>
      </p:sp>
      <p:sp>
        <p:nvSpPr>
          <p:cNvPr id="5" name="Text 3"/>
          <p:cNvSpPr/>
          <p:nvPr/>
        </p:nvSpPr>
        <p:spPr>
          <a:xfrm>
            <a:off x="661475" y="3524845"/>
            <a:ext cx="5238421" cy="713184"/>
          </a:xfrm>
          <a:prstGeom prst="rect">
            <a:avLst/>
          </a:prstGeom>
          <a:noFill/>
          <a:ln/>
        </p:spPr>
        <p:txBody>
          <a:bodyPr wrap="square" lIns="0" tIns="0" rIns="0" bIns="0" rtlCol="0" anchor="t">
            <a:normAutofit/>
          </a:bodyPr>
          <a:lstStyle/>
          <a:p>
            <a:pPr marL="0" indent="0" algn="l">
              <a:lnSpc>
                <a:spcPct val="123000"/>
              </a:lnSpc>
              <a:buNone/>
            </a:pPr>
            <a:r>
              <a:rPr lang="en-US" sz="1250" dirty="0">
                <a:solidFill>
                  <a:srgbClr val="DCD7E5"/>
                </a:solidFill>
                <a:latin typeface="Heebo Light" pitchFamily="34" charset="0"/>
                <a:ea typeface="Heebo Light" pitchFamily="34" charset="-122"/>
                <a:cs typeface="Heebo Light" pitchFamily="34" charset="-120"/>
              </a:rPr>
              <a:t>Organizations relying on local file storage face critical vulnerabilities — from data loss and limited access to weak security and no centralized control. CloudVault Eclipse was designed to solve these problems.</a:t>
            </a:r>
            <a:endParaRPr lang="en-US" sz="1250" dirty="0"/>
          </a:p>
        </p:txBody>
      </p:sp>
      <p:pic>
        <p:nvPicPr>
          <p:cNvPr id="6" name="Image 0" descr="preencoded.png"/>
          <p:cNvPicPr>
            <a:picLocks noChangeAspect="1"/>
          </p:cNvPicPr>
          <p:nvPr/>
        </p:nvPicPr>
        <p:blipFill>
          <a:blip r:embed="rId3"/>
          <a:stretch>
            <a:fillRect/>
          </a:stretch>
        </p:blipFill>
        <p:spPr>
          <a:xfrm>
            <a:off x="6298149" y="1655068"/>
            <a:ext cx="4452628" cy="4452739"/>
          </a:xfrm>
          <a:prstGeom prst="rect">
            <a:avLst/>
          </a:prstGeom>
        </p:spPr>
      </p:pic>
      <p:sp>
        <p:nvSpPr>
          <p:cNvPr id="7" name="Rectangle 6">
            <a:extLst>
              <a:ext uri="{FF2B5EF4-FFF2-40B4-BE49-F238E27FC236}">
                <a16:creationId xmlns:a16="http://schemas.microsoft.com/office/drawing/2014/main" id="{EF834CF4-0F7E-B13A-9677-BFC0F4E679FB}"/>
              </a:ext>
            </a:extLst>
          </p:cNvPr>
          <p:cNvSpPr/>
          <p:nvPr/>
        </p:nvSpPr>
        <p:spPr>
          <a:xfrm>
            <a:off x="10954139" y="6540759"/>
            <a:ext cx="1156996" cy="233265"/>
          </a:xfrm>
          <a:prstGeom prst="rect">
            <a:avLst/>
          </a:prstGeom>
          <a:solidFill>
            <a:srgbClr val="160E37"/>
          </a:solidFill>
          <a:ln>
            <a:solidFill>
              <a:srgbClr val="160E3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661475" y="745728"/>
            <a:ext cx="2200022" cy="287139"/>
          </a:xfrm>
          <a:prstGeom prst="roundRect">
            <a:avLst>
              <a:gd name="adj" fmla="val 22118"/>
            </a:avLst>
          </a:prstGeom>
          <a:noFill/>
          <a:ln w="6350">
            <a:solidFill>
              <a:srgbClr val="481C9E"/>
            </a:solidFill>
            <a:prstDash val="solid"/>
          </a:ln>
        </p:spPr>
      </p:sp>
      <p:sp>
        <p:nvSpPr>
          <p:cNvPr id="3" name="Text 1"/>
          <p:cNvSpPr/>
          <p:nvPr/>
        </p:nvSpPr>
        <p:spPr>
          <a:xfrm>
            <a:off x="774879" y="802382"/>
            <a:ext cx="2582798" cy="173831"/>
          </a:xfrm>
          <a:prstGeom prst="rect">
            <a:avLst/>
          </a:prstGeom>
          <a:noFill/>
          <a:ln/>
        </p:spPr>
        <p:txBody>
          <a:bodyPr wrap="none" lIns="0" tIns="0" rIns="0" bIns="0" rtlCol="0" anchor="t"/>
          <a:lstStyle/>
          <a:p>
            <a:pPr marL="0" indent="0" algn="l">
              <a:lnSpc>
                <a:spcPct val="96000"/>
              </a:lnSpc>
              <a:buNone/>
            </a:pPr>
            <a:r>
              <a:rPr lang="en-US" sz="1150" dirty="0">
                <a:solidFill>
                  <a:srgbClr val="481C9E"/>
                </a:solidFill>
                <a:latin typeface="Heebo Light" pitchFamily="34" charset="0"/>
                <a:ea typeface="Heebo Light" pitchFamily="34" charset="-122"/>
                <a:cs typeface="Heebo Light" pitchFamily="34" charset="-120"/>
              </a:rPr>
              <a:t>WHAT WE SET OUT TO BUILD</a:t>
            </a:r>
            <a:endParaRPr lang="en-US" sz="1150" dirty="0"/>
          </a:p>
        </p:txBody>
      </p:sp>
      <p:sp>
        <p:nvSpPr>
          <p:cNvPr id="4" name="Text 2"/>
          <p:cNvSpPr/>
          <p:nvPr/>
        </p:nvSpPr>
        <p:spPr>
          <a:xfrm>
            <a:off x="661475" y="1108472"/>
            <a:ext cx="10868745" cy="590649"/>
          </a:xfrm>
          <a:prstGeom prst="rect">
            <a:avLst/>
          </a:prstGeom>
          <a:noFill/>
          <a:ln/>
        </p:spPr>
        <p:txBody>
          <a:bodyPr wrap="none" lIns="0" tIns="0" rIns="0" bIns="0" rtlCol="0" anchor="t"/>
          <a:lstStyle/>
          <a:p>
            <a:pPr marL="0" indent="0" algn="l">
              <a:lnSpc>
                <a:spcPct val="104000"/>
              </a:lnSpc>
              <a:buNone/>
            </a:pPr>
            <a:r>
              <a:rPr lang="en-US" sz="3700" dirty="0">
                <a:solidFill>
                  <a:srgbClr val="F2F0F4"/>
                </a:solidFill>
                <a:latin typeface="Montserrat" pitchFamily="34" charset="0"/>
                <a:ea typeface="Montserrat" pitchFamily="34" charset="-122"/>
                <a:cs typeface="Montserrat" pitchFamily="34" charset="-120"/>
              </a:rPr>
              <a:t>Project Objectives</a:t>
            </a:r>
            <a:endParaRPr lang="en-US" sz="3700" dirty="0"/>
          </a:p>
        </p:txBody>
      </p:sp>
      <p:sp>
        <p:nvSpPr>
          <p:cNvPr id="5" name="Shape 3"/>
          <p:cNvSpPr/>
          <p:nvPr/>
        </p:nvSpPr>
        <p:spPr>
          <a:xfrm>
            <a:off x="661475" y="4047430"/>
            <a:ext cx="10868745" cy="25400"/>
          </a:xfrm>
          <a:prstGeom prst="roundRect">
            <a:avLst>
              <a:gd name="adj" fmla="val 312550"/>
            </a:avLst>
          </a:prstGeom>
          <a:solidFill>
            <a:srgbClr val="4A2C85"/>
          </a:solidFill>
          <a:ln/>
        </p:spPr>
      </p:sp>
      <p:sp>
        <p:nvSpPr>
          <p:cNvPr id="6" name="Shape 4"/>
          <p:cNvSpPr/>
          <p:nvPr/>
        </p:nvSpPr>
        <p:spPr>
          <a:xfrm>
            <a:off x="2381488" y="3480395"/>
            <a:ext cx="25399" cy="567035"/>
          </a:xfrm>
          <a:prstGeom prst="roundRect">
            <a:avLst>
              <a:gd name="adj" fmla="val 312562"/>
            </a:avLst>
          </a:prstGeom>
          <a:solidFill>
            <a:srgbClr val="4A2C85"/>
          </a:solidFill>
          <a:ln/>
        </p:spPr>
      </p:sp>
      <p:sp>
        <p:nvSpPr>
          <p:cNvPr id="7" name="Shape 5"/>
          <p:cNvSpPr/>
          <p:nvPr/>
        </p:nvSpPr>
        <p:spPr>
          <a:xfrm>
            <a:off x="2181567" y="3834805"/>
            <a:ext cx="425241" cy="425252"/>
          </a:xfrm>
          <a:prstGeom prst="roundRect">
            <a:avLst>
              <a:gd name="adj" fmla="val 18669"/>
            </a:avLst>
          </a:prstGeom>
          <a:solidFill>
            <a:srgbClr val="31136C"/>
          </a:solidFill>
          <a:ln w="6350">
            <a:solidFill>
              <a:srgbClr val="4A2C85"/>
            </a:solidFill>
            <a:prstDash val="solid"/>
          </a:ln>
        </p:spPr>
      </p:sp>
      <p:pic>
        <p:nvPicPr>
          <p:cNvPr id="8"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52457" y="3905647"/>
            <a:ext cx="283461" cy="283468"/>
          </a:xfrm>
          <a:prstGeom prst="rect">
            <a:avLst/>
          </a:prstGeom>
        </p:spPr>
      </p:pic>
      <p:sp>
        <p:nvSpPr>
          <p:cNvPr id="9" name="Text 6"/>
          <p:cNvSpPr/>
          <p:nvPr/>
        </p:nvSpPr>
        <p:spPr>
          <a:xfrm>
            <a:off x="850482" y="1982589"/>
            <a:ext cx="3087412" cy="590550"/>
          </a:xfrm>
          <a:prstGeom prst="rect">
            <a:avLst/>
          </a:prstGeom>
          <a:noFill/>
          <a:ln/>
        </p:spPr>
        <p:txBody>
          <a:bodyPr wrap="square" lIns="0" tIns="0" rIns="0" bIns="0" rtlCol="0" anchor="t">
            <a:normAutofit/>
          </a:bodyPr>
          <a:lstStyle/>
          <a:p>
            <a:pPr marL="0" indent="0" algn="ctr">
              <a:lnSpc>
                <a:spcPct val="104000"/>
              </a:lnSpc>
              <a:buNone/>
            </a:pPr>
            <a:r>
              <a:rPr lang="en-US" sz="1850" dirty="0">
                <a:solidFill>
                  <a:srgbClr val="DCD7E5"/>
                </a:solidFill>
                <a:latin typeface="Montserrat" pitchFamily="34" charset="0"/>
                <a:ea typeface="Montserrat" pitchFamily="34" charset="-122"/>
                <a:cs typeface="Montserrat" pitchFamily="34" charset="-120"/>
              </a:rPr>
              <a:t>Secure Document Storage</a:t>
            </a:r>
            <a:endParaRPr lang="en-US" sz="1850" dirty="0"/>
          </a:p>
        </p:txBody>
      </p:sp>
      <p:sp>
        <p:nvSpPr>
          <p:cNvPr id="10" name="Text 7"/>
          <p:cNvSpPr/>
          <p:nvPr/>
        </p:nvSpPr>
        <p:spPr>
          <a:xfrm>
            <a:off x="850482" y="2686546"/>
            <a:ext cx="3087412" cy="604838"/>
          </a:xfrm>
          <a:prstGeom prst="rect">
            <a:avLst/>
          </a:prstGeom>
          <a:noFill/>
          <a:ln/>
        </p:spPr>
        <p:txBody>
          <a:bodyPr wrap="square" lIns="0" tIns="0" rIns="0" bIns="0" rtlCol="0" anchor="t">
            <a:normAutofit/>
          </a:bodyPr>
          <a:lstStyle/>
          <a:p>
            <a:pPr marL="0" indent="0" algn="ctr">
              <a:lnSpc>
                <a:spcPct val="133000"/>
              </a:lnSpc>
              <a:buNone/>
            </a:pPr>
            <a:r>
              <a:rPr lang="en-US" sz="1450" dirty="0">
                <a:solidFill>
                  <a:srgbClr val="DCD7E5"/>
                </a:solidFill>
                <a:latin typeface="Heebo Light" pitchFamily="34" charset="0"/>
                <a:ea typeface="Heebo Light" pitchFamily="34" charset="-122"/>
                <a:cs typeface="Heebo Light" pitchFamily="34" charset="-120"/>
              </a:rPr>
              <a:t>Encrypted, access-controlled file storage on AWS S3</a:t>
            </a:r>
            <a:endParaRPr lang="en-US" sz="1450" dirty="0"/>
          </a:p>
        </p:txBody>
      </p:sp>
      <p:sp>
        <p:nvSpPr>
          <p:cNvPr id="11" name="Shape 8"/>
          <p:cNvSpPr/>
          <p:nvPr/>
        </p:nvSpPr>
        <p:spPr>
          <a:xfrm>
            <a:off x="4232268" y="4047430"/>
            <a:ext cx="25399" cy="567035"/>
          </a:xfrm>
          <a:prstGeom prst="roundRect">
            <a:avLst>
              <a:gd name="adj" fmla="val 312562"/>
            </a:avLst>
          </a:prstGeom>
          <a:solidFill>
            <a:srgbClr val="4A2C85"/>
          </a:solidFill>
          <a:ln/>
        </p:spPr>
      </p:sp>
      <p:sp>
        <p:nvSpPr>
          <p:cNvPr id="12" name="Shape 9"/>
          <p:cNvSpPr/>
          <p:nvPr/>
        </p:nvSpPr>
        <p:spPr>
          <a:xfrm>
            <a:off x="4032348" y="3834805"/>
            <a:ext cx="425241" cy="425252"/>
          </a:xfrm>
          <a:prstGeom prst="roundRect">
            <a:avLst>
              <a:gd name="adj" fmla="val 18669"/>
            </a:avLst>
          </a:prstGeom>
          <a:solidFill>
            <a:srgbClr val="31136C"/>
          </a:solidFill>
          <a:ln w="6350">
            <a:solidFill>
              <a:srgbClr val="4A2C85"/>
            </a:solidFill>
            <a:prstDash val="solid"/>
          </a:ln>
        </p:spPr>
      </p:sp>
      <p:pic>
        <p:nvPicPr>
          <p:cNvPr id="13"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103238" y="3905647"/>
            <a:ext cx="283461" cy="283468"/>
          </a:xfrm>
          <a:prstGeom prst="rect">
            <a:avLst/>
          </a:prstGeom>
        </p:spPr>
      </p:pic>
      <p:sp>
        <p:nvSpPr>
          <p:cNvPr id="14" name="Text 10"/>
          <p:cNvSpPr/>
          <p:nvPr/>
        </p:nvSpPr>
        <p:spPr>
          <a:xfrm>
            <a:off x="2701262" y="4803477"/>
            <a:ext cx="3087412" cy="295275"/>
          </a:xfrm>
          <a:prstGeom prst="rect">
            <a:avLst/>
          </a:prstGeom>
          <a:noFill/>
          <a:ln/>
        </p:spPr>
        <p:txBody>
          <a:bodyPr wrap="none" lIns="0" tIns="0" rIns="0" bIns="0" rtlCol="0" anchor="t"/>
          <a:lstStyle/>
          <a:p>
            <a:pPr marL="0" indent="0" algn="ctr">
              <a:lnSpc>
                <a:spcPct val="104000"/>
              </a:lnSpc>
              <a:buNone/>
            </a:pPr>
            <a:r>
              <a:rPr lang="en-US" sz="1850" dirty="0">
                <a:solidFill>
                  <a:srgbClr val="DCD7E5"/>
                </a:solidFill>
                <a:latin typeface="Montserrat" pitchFamily="34" charset="0"/>
                <a:ea typeface="Montserrat" pitchFamily="34" charset="-122"/>
                <a:cs typeface="Montserrat" pitchFamily="34" charset="-120"/>
              </a:rPr>
              <a:t>Cloud-Based Access</a:t>
            </a:r>
            <a:endParaRPr lang="en-US" sz="1850" dirty="0"/>
          </a:p>
        </p:txBody>
      </p:sp>
      <p:sp>
        <p:nvSpPr>
          <p:cNvPr id="15" name="Text 11"/>
          <p:cNvSpPr/>
          <p:nvPr/>
        </p:nvSpPr>
        <p:spPr>
          <a:xfrm>
            <a:off x="2701262" y="5212159"/>
            <a:ext cx="3087412" cy="604838"/>
          </a:xfrm>
          <a:prstGeom prst="rect">
            <a:avLst/>
          </a:prstGeom>
          <a:noFill/>
          <a:ln/>
        </p:spPr>
        <p:txBody>
          <a:bodyPr wrap="square" lIns="0" tIns="0" rIns="0" bIns="0" rtlCol="0" anchor="t">
            <a:normAutofit/>
          </a:bodyPr>
          <a:lstStyle/>
          <a:p>
            <a:pPr marL="0" indent="0" algn="ctr">
              <a:lnSpc>
                <a:spcPct val="133000"/>
              </a:lnSpc>
              <a:buNone/>
            </a:pPr>
            <a:r>
              <a:rPr lang="en-US" sz="1450" dirty="0">
                <a:solidFill>
                  <a:srgbClr val="DCD7E5"/>
                </a:solidFill>
                <a:latin typeface="Heebo Light" pitchFamily="34" charset="0"/>
                <a:ea typeface="Heebo Light" pitchFamily="34" charset="-122"/>
                <a:cs typeface="Heebo Light" pitchFamily="34" charset="-120"/>
              </a:rPr>
              <a:t>Access documents anytime, anywhere via the web</a:t>
            </a:r>
            <a:endParaRPr lang="en-US" sz="1450" dirty="0"/>
          </a:p>
        </p:txBody>
      </p:sp>
      <p:sp>
        <p:nvSpPr>
          <p:cNvPr id="16" name="Shape 12"/>
          <p:cNvSpPr/>
          <p:nvPr/>
        </p:nvSpPr>
        <p:spPr>
          <a:xfrm>
            <a:off x="6083148" y="3480395"/>
            <a:ext cx="25399" cy="567035"/>
          </a:xfrm>
          <a:prstGeom prst="roundRect">
            <a:avLst>
              <a:gd name="adj" fmla="val 312562"/>
            </a:avLst>
          </a:prstGeom>
          <a:solidFill>
            <a:srgbClr val="4A2C85"/>
          </a:solidFill>
          <a:ln/>
        </p:spPr>
      </p:sp>
      <p:sp>
        <p:nvSpPr>
          <p:cNvPr id="17" name="Shape 13"/>
          <p:cNvSpPr/>
          <p:nvPr/>
        </p:nvSpPr>
        <p:spPr>
          <a:xfrm>
            <a:off x="5883227" y="3834805"/>
            <a:ext cx="425241" cy="425252"/>
          </a:xfrm>
          <a:prstGeom prst="roundRect">
            <a:avLst>
              <a:gd name="adj" fmla="val 18669"/>
            </a:avLst>
          </a:prstGeom>
          <a:solidFill>
            <a:srgbClr val="31136C"/>
          </a:solidFill>
          <a:ln w="6350">
            <a:solidFill>
              <a:srgbClr val="4A2C85"/>
            </a:solidFill>
            <a:prstDash val="solid"/>
          </a:ln>
        </p:spPr>
      </p:sp>
      <p:pic>
        <p:nvPicPr>
          <p:cNvPr id="18"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954117" y="3905647"/>
            <a:ext cx="283461" cy="283468"/>
          </a:xfrm>
          <a:prstGeom prst="rect">
            <a:avLst/>
          </a:prstGeom>
        </p:spPr>
      </p:pic>
      <p:sp>
        <p:nvSpPr>
          <p:cNvPr id="19" name="Text 14"/>
          <p:cNvSpPr/>
          <p:nvPr/>
        </p:nvSpPr>
        <p:spPr>
          <a:xfrm>
            <a:off x="4552142" y="1982589"/>
            <a:ext cx="3087412" cy="295275"/>
          </a:xfrm>
          <a:prstGeom prst="rect">
            <a:avLst/>
          </a:prstGeom>
          <a:noFill/>
          <a:ln/>
        </p:spPr>
        <p:txBody>
          <a:bodyPr wrap="none" lIns="0" tIns="0" rIns="0" bIns="0" rtlCol="0" anchor="t"/>
          <a:lstStyle/>
          <a:p>
            <a:pPr marL="0" indent="0" algn="ctr">
              <a:lnSpc>
                <a:spcPct val="104000"/>
              </a:lnSpc>
              <a:buNone/>
            </a:pPr>
            <a:r>
              <a:rPr lang="en-US" sz="1850" dirty="0">
                <a:solidFill>
                  <a:srgbClr val="DCD7E5"/>
                </a:solidFill>
                <a:latin typeface="Montserrat" pitchFamily="34" charset="0"/>
                <a:ea typeface="Montserrat" pitchFamily="34" charset="-122"/>
                <a:cs typeface="Montserrat" pitchFamily="34" charset="-120"/>
              </a:rPr>
              <a:t>Email OTP Verification</a:t>
            </a:r>
            <a:endParaRPr lang="en-US" sz="1850" dirty="0"/>
          </a:p>
        </p:txBody>
      </p:sp>
      <p:sp>
        <p:nvSpPr>
          <p:cNvPr id="20" name="Text 15"/>
          <p:cNvSpPr/>
          <p:nvPr/>
        </p:nvSpPr>
        <p:spPr>
          <a:xfrm>
            <a:off x="4552142" y="2391271"/>
            <a:ext cx="3087412" cy="604838"/>
          </a:xfrm>
          <a:prstGeom prst="rect">
            <a:avLst/>
          </a:prstGeom>
          <a:noFill/>
          <a:ln/>
        </p:spPr>
        <p:txBody>
          <a:bodyPr wrap="square" lIns="0" tIns="0" rIns="0" bIns="0" rtlCol="0" anchor="t">
            <a:normAutofit/>
          </a:bodyPr>
          <a:lstStyle/>
          <a:p>
            <a:pPr marL="0" indent="0" algn="ctr">
              <a:lnSpc>
                <a:spcPct val="133000"/>
              </a:lnSpc>
              <a:buNone/>
            </a:pPr>
            <a:r>
              <a:rPr lang="en-US" sz="1450" dirty="0">
                <a:solidFill>
                  <a:srgbClr val="DCD7E5"/>
                </a:solidFill>
                <a:latin typeface="Heebo Light" pitchFamily="34" charset="0"/>
                <a:ea typeface="Heebo Light" pitchFamily="34" charset="-122"/>
                <a:cs typeface="Heebo Light" pitchFamily="34" charset="-120"/>
              </a:rPr>
              <a:t>Two-factor authentication for secure user onboarding</a:t>
            </a:r>
            <a:endParaRPr lang="en-US" sz="1450" dirty="0"/>
          </a:p>
        </p:txBody>
      </p:sp>
      <p:sp>
        <p:nvSpPr>
          <p:cNvPr id="21" name="Shape 16"/>
          <p:cNvSpPr/>
          <p:nvPr/>
        </p:nvSpPr>
        <p:spPr>
          <a:xfrm>
            <a:off x="7933928" y="4047430"/>
            <a:ext cx="25399" cy="567035"/>
          </a:xfrm>
          <a:prstGeom prst="roundRect">
            <a:avLst>
              <a:gd name="adj" fmla="val 312562"/>
            </a:avLst>
          </a:prstGeom>
          <a:solidFill>
            <a:srgbClr val="4A2C85"/>
          </a:solidFill>
          <a:ln/>
        </p:spPr>
      </p:sp>
      <p:sp>
        <p:nvSpPr>
          <p:cNvPr id="22" name="Shape 17"/>
          <p:cNvSpPr/>
          <p:nvPr/>
        </p:nvSpPr>
        <p:spPr>
          <a:xfrm>
            <a:off x="7734007" y="3834805"/>
            <a:ext cx="425241" cy="425252"/>
          </a:xfrm>
          <a:prstGeom prst="roundRect">
            <a:avLst>
              <a:gd name="adj" fmla="val 18669"/>
            </a:avLst>
          </a:prstGeom>
          <a:solidFill>
            <a:srgbClr val="31136C"/>
          </a:solidFill>
          <a:ln w="6350">
            <a:solidFill>
              <a:srgbClr val="4A2C85"/>
            </a:solidFill>
            <a:prstDash val="solid"/>
          </a:ln>
        </p:spPr>
      </p:sp>
      <p:pic>
        <p:nvPicPr>
          <p:cNvPr id="23"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804897" y="3905647"/>
            <a:ext cx="283461" cy="283468"/>
          </a:xfrm>
          <a:prstGeom prst="rect">
            <a:avLst/>
          </a:prstGeom>
        </p:spPr>
      </p:pic>
      <p:sp>
        <p:nvSpPr>
          <p:cNvPr id="24" name="Text 18"/>
          <p:cNvSpPr/>
          <p:nvPr/>
        </p:nvSpPr>
        <p:spPr>
          <a:xfrm>
            <a:off x="6402922" y="4803477"/>
            <a:ext cx="3087412" cy="590550"/>
          </a:xfrm>
          <a:prstGeom prst="rect">
            <a:avLst/>
          </a:prstGeom>
          <a:noFill/>
          <a:ln/>
        </p:spPr>
        <p:txBody>
          <a:bodyPr wrap="square" lIns="0" tIns="0" rIns="0" bIns="0" rtlCol="0" anchor="t">
            <a:normAutofit/>
          </a:bodyPr>
          <a:lstStyle/>
          <a:p>
            <a:pPr marL="0" indent="0" algn="ctr">
              <a:lnSpc>
                <a:spcPct val="104000"/>
              </a:lnSpc>
              <a:buNone/>
            </a:pPr>
            <a:r>
              <a:rPr lang="en-US" sz="1850" dirty="0">
                <a:solidFill>
                  <a:srgbClr val="DCD7E5"/>
                </a:solidFill>
                <a:latin typeface="Montserrat" pitchFamily="34" charset="0"/>
                <a:ea typeface="Montserrat" pitchFamily="34" charset="-122"/>
                <a:cs typeface="Montserrat" pitchFamily="34" charset="-120"/>
              </a:rPr>
              <a:t>Role-Based Access Control</a:t>
            </a:r>
            <a:endParaRPr lang="en-US" sz="1850" dirty="0"/>
          </a:p>
        </p:txBody>
      </p:sp>
      <p:sp>
        <p:nvSpPr>
          <p:cNvPr id="25" name="Text 19"/>
          <p:cNvSpPr/>
          <p:nvPr/>
        </p:nvSpPr>
        <p:spPr>
          <a:xfrm>
            <a:off x="6402922" y="5507434"/>
            <a:ext cx="3087412" cy="604838"/>
          </a:xfrm>
          <a:prstGeom prst="rect">
            <a:avLst/>
          </a:prstGeom>
          <a:noFill/>
          <a:ln/>
        </p:spPr>
        <p:txBody>
          <a:bodyPr wrap="square" lIns="0" tIns="0" rIns="0" bIns="0" rtlCol="0" anchor="t">
            <a:normAutofit/>
          </a:bodyPr>
          <a:lstStyle/>
          <a:p>
            <a:pPr marL="0" indent="0" algn="ctr">
              <a:lnSpc>
                <a:spcPct val="133000"/>
              </a:lnSpc>
              <a:buNone/>
            </a:pPr>
            <a:r>
              <a:rPr lang="en-US" sz="1450" dirty="0">
                <a:solidFill>
                  <a:srgbClr val="DCD7E5"/>
                </a:solidFill>
                <a:latin typeface="Heebo Light" pitchFamily="34" charset="0"/>
                <a:ea typeface="Heebo Light" pitchFamily="34" charset="-122"/>
                <a:cs typeface="Heebo Light" pitchFamily="34" charset="-120"/>
              </a:rPr>
              <a:t>Admin and user roles with distinct permissions</a:t>
            </a:r>
            <a:endParaRPr lang="en-US" sz="1450" dirty="0"/>
          </a:p>
        </p:txBody>
      </p:sp>
      <p:sp>
        <p:nvSpPr>
          <p:cNvPr id="26" name="Shape 20"/>
          <p:cNvSpPr/>
          <p:nvPr/>
        </p:nvSpPr>
        <p:spPr>
          <a:xfrm>
            <a:off x="9784808" y="3480395"/>
            <a:ext cx="25399" cy="567035"/>
          </a:xfrm>
          <a:prstGeom prst="roundRect">
            <a:avLst>
              <a:gd name="adj" fmla="val 312562"/>
            </a:avLst>
          </a:prstGeom>
          <a:solidFill>
            <a:srgbClr val="4A2C85"/>
          </a:solidFill>
          <a:ln/>
        </p:spPr>
      </p:sp>
      <p:sp>
        <p:nvSpPr>
          <p:cNvPr id="27" name="Shape 21"/>
          <p:cNvSpPr/>
          <p:nvPr/>
        </p:nvSpPr>
        <p:spPr>
          <a:xfrm>
            <a:off x="9584887" y="3834805"/>
            <a:ext cx="425241" cy="425252"/>
          </a:xfrm>
          <a:prstGeom prst="roundRect">
            <a:avLst>
              <a:gd name="adj" fmla="val 18669"/>
            </a:avLst>
          </a:prstGeom>
          <a:solidFill>
            <a:srgbClr val="31136C"/>
          </a:solidFill>
          <a:ln w="6350">
            <a:solidFill>
              <a:srgbClr val="4A2C85"/>
            </a:solidFill>
            <a:prstDash val="solid"/>
          </a:ln>
        </p:spPr>
      </p:sp>
      <p:pic>
        <p:nvPicPr>
          <p:cNvPr id="28"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9655777" y="3905647"/>
            <a:ext cx="283461" cy="283468"/>
          </a:xfrm>
          <a:prstGeom prst="rect">
            <a:avLst/>
          </a:prstGeom>
        </p:spPr>
      </p:pic>
      <p:sp>
        <p:nvSpPr>
          <p:cNvPr id="29" name="Text 22"/>
          <p:cNvSpPr/>
          <p:nvPr/>
        </p:nvSpPr>
        <p:spPr>
          <a:xfrm>
            <a:off x="8253801" y="1982589"/>
            <a:ext cx="3087412" cy="295275"/>
          </a:xfrm>
          <a:prstGeom prst="rect">
            <a:avLst/>
          </a:prstGeom>
          <a:noFill/>
          <a:ln/>
        </p:spPr>
        <p:txBody>
          <a:bodyPr wrap="none" lIns="0" tIns="0" rIns="0" bIns="0" rtlCol="0" anchor="t"/>
          <a:lstStyle/>
          <a:p>
            <a:pPr marL="0" indent="0" algn="ctr">
              <a:lnSpc>
                <a:spcPct val="104000"/>
              </a:lnSpc>
              <a:buNone/>
            </a:pPr>
            <a:r>
              <a:rPr lang="en-US" sz="1850" dirty="0">
                <a:solidFill>
                  <a:srgbClr val="DCD7E5"/>
                </a:solidFill>
                <a:latin typeface="Montserrat" pitchFamily="34" charset="0"/>
                <a:ea typeface="Montserrat" pitchFamily="34" charset="-122"/>
                <a:cs typeface="Montserrat" pitchFamily="34" charset="-120"/>
              </a:rPr>
              <a:t>Docker Deployment</a:t>
            </a:r>
            <a:endParaRPr lang="en-US" sz="1850" dirty="0"/>
          </a:p>
        </p:txBody>
      </p:sp>
      <p:sp>
        <p:nvSpPr>
          <p:cNvPr id="30" name="Text 23"/>
          <p:cNvSpPr/>
          <p:nvPr/>
        </p:nvSpPr>
        <p:spPr>
          <a:xfrm>
            <a:off x="8253801" y="2391271"/>
            <a:ext cx="3087412" cy="604838"/>
          </a:xfrm>
          <a:prstGeom prst="rect">
            <a:avLst/>
          </a:prstGeom>
          <a:noFill/>
          <a:ln/>
        </p:spPr>
        <p:txBody>
          <a:bodyPr wrap="square" lIns="0" tIns="0" rIns="0" bIns="0" rtlCol="0" anchor="t">
            <a:normAutofit/>
          </a:bodyPr>
          <a:lstStyle/>
          <a:p>
            <a:pPr marL="0" indent="0" algn="ctr">
              <a:lnSpc>
                <a:spcPct val="133000"/>
              </a:lnSpc>
              <a:buNone/>
            </a:pPr>
            <a:r>
              <a:rPr lang="en-US" sz="1450" dirty="0">
                <a:solidFill>
                  <a:srgbClr val="DCD7E5"/>
                </a:solidFill>
                <a:latin typeface="Heebo Light" pitchFamily="34" charset="0"/>
                <a:ea typeface="Heebo Light" pitchFamily="34" charset="-122"/>
                <a:cs typeface="Heebo Light" pitchFamily="34" charset="-120"/>
              </a:rPr>
              <a:t>Containerized, portable, and consistent across environments</a:t>
            </a:r>
            <a:endParaRPr lang="en-US" sz="1450" dirty="0"/>
          </a:p>
        </p:txBody>
      </p:sp>
      <p:sp>
        <p:nvSpPr>
          <p:cNvPr id="32" name="Rectangle 31">
            <a:extLst>
              <a:ext uri="{FF2B5EF4-FFF2-40B4-BE49-F238E27FC236}">
                <a16:creationId xmlns:a16="http://schemas.microsoft.com/office/drawing/2014/main" id="{DDC0ABD0-2215-CB1F-A87A-CD6B7186112D}"/>
              </a:ext>
            </a:extLst>
          </p:cNvPr>
          <p:cNvSpPr/>
          <p:nvPr/>
        </p:nvSpPr>
        <p:spPr>
          <a:xfrm>
            <a:off x="10954139" y="6540759"/>
            <a:ext cx="1156996" cy="233265"/>
          </a:xfrm>
          <a:prstGeom prst="rect">
            <a:avLst/>
          </a:prstGeom>
          <a:solidFill>
            <a:srgbClr val="160E37"/>
          </a:solidFill>
          <a:ln>
            <a:solidFill>
              <a:srgbClr val="160E3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661475" y="628154"/>
            <a:ext cx="1109833" cy="215305"/>
          </a:xfrm>
          <a:prstGeom prst="roundRect">
            <a:avLst>
              <a:gd name="adj" fmla="val 22123"/>
            </a:avLst>
          </a:prstGeom>
          <a:noFill/>
          <a:ln w="6350">
            <a:solidFill>
              <a:srgbClr val="481C9E"/>
            </a:solidFill>
            <a:prstDash val="solid"/>
          </a:ln>
        </p:spPr>
      </p:sp>
      <p:sp>
        <p:nvSpPr>
          <p:cNvPr id="3" name="Text 1"/>
          <p:cNvSpPr/>
          <p:nvPr/>
        </p:nvSpPr>
        <p:spPr>
          <a:xfrm>
            <a:off x="746503" y="670620"/>
            <a:ext cx="1549361" cy="130373"/>
          </a:xfrm>
          <a:prstGeom prst="rect">
            <a:avLst/>
          </a:prstGeom>
          <a:noFill/>
          <a:ln/>
        </p:spPr>
        <p:txBody>
          <a:bodyPr wrap="none" lIns="0" tIns="0" rIns="0" bIns="0" rtlCol="0" anchor="t"/>
          <a:lstStyle/>
          <a:p>
            <a:pPr marL="0" indent="0" algn="l">
              <a:lnSpc>
                <a:spcPct val="96000"/>
              </a:lnSpc>
              <a:buNone/>
            </a:pPr>
            <a:r>
              <a:rPr lang="en-US" sz="850" dirty="0">
                <a:solidFill>
                  <a:srgbClr val="481C9E"/>
                </a:solidFill>
                <a:latin typeface="Heebo Light" pitchFamily="34" charset="0"/>
                <a:ea typeface="Heebo Light" pitchFamily="34" charset="-122"/>
                <a:cs typeface="Heebo Light" pitchFamily="34" charset="-120"/>
              </a:rPr>
              <a:t>UNDER THE HOOD</a:t>
            </a:r>
            <a:endParaRPr lang="en-US" sz="850" dirty="0"/>
          </a:p>
        </p:txBody>
      </p:sp>
      <p:sp>
        <p:nvSpPr>
          <p:cNvPr id="4" name="Text 2"/>
          <p:cNvSpPr/>
          <p:nvPr/>
        </p:nvSpPr>
        <p:spPr>
          <a:xfrm>
            <a:off x="661475" y="885924"/>
            <a:ext cx="10868745" cy="443012"/>
          </a:xfrm>
          <a:prstGeom prst="rect">
            <a:avLst/>
          </a:prstGeom>
          <a:noFill/>
          <a:ln/>
        </p:spPr>
        <p:txBody>
          <a:bodyPr wrap="none" lIns="0" tIns="0" rIns="0" bIns="0" rtlCol="0" anchor="t"/>
          <a:lstStyle/>
          <a:p>
            <a:pPr marL="0" indent="0" algn="l">
              <a:lnSpc>
                <a:spcPct val="104000"/>
              </a:lnSpc>
              <a:buNone/>
            </a:pPr>
            <a:r>
              <a:rPr lang="en-US" sz="2750" dirty="0">
                <a:solidFill>
                  <a:srgbClr val="F2F0F4"/>
                </a:solidFill>
                <a:latin typeface="Montserrat" pitchFamily="34" charset="0"/>
                <a:ea typeface="Montserrat" pitchFamily="34" charset="-122"/>
                <a:cs typeface="Montserrat" pitchFamily="34" charset="-120"/>
              </a:rPr>
              <a:t>Technology Stack</a:t>
            </a:r>
            <a:endParaRPr lang="en-US" sz="2750" dirty="0"/>
          </a:p>
        </p:txBody>
      </p:sp>
      <p:sp>
        <p:nvSpPr>
          <p:cNvPr id="5" name="Shape 3"/>
          <p:cNvSpPr/>
          <p:nvPr/>
        </p:nvSpPr>
        <p:spPr>
          <a:xfrm>
            <a:off x="661475" y="1488380"/>
            <a:ext cx="3552042" cy="1509613"/>
          </a:xfrm>
          <a:prstGeom prst="roundRect">
            <a:avLst>
              <a:gd name="adj" fmla="val 3944"/>
            </a:avLst>
          </a:prstGeom>
          <a:solidFill>
            <a:srgbClr val="31136C"/>
          </a:solidFill>
          <a:ln w="6350">
            <a:solidFill>
              <a:srgbClr val="D8AFF8"/>
            </a:solidFill>
            <a:prstDash val="solid"/>
          </a:ln>
        </p:spPr>
      </p:sp>
      <p:sp>
        <p:nvSpPr>
          <p:cNvPr id="6" name="Shape 4"/>
          <p:cNvSpPr/>
          <p:nvPr/>
        </p:nvSpPr>
        <p:spPr>
          <a:xfrm>
            <a:off x="2224826" y="1636415"/>
            <a:ext cx="425241" cy="425252"/>
          </a:xfrm>
          <a:prstGeom prst="ellipse">
            <a:avLst/>
          </a:prstGeom>
          <a:solidFill>
            <a:srgbClr val="D8AFF8"/>
          </a:solidFill>
          <a:ln/>
        </p:spPr>
      </p:sp>
      <p:pic>
        <p:nvPicPr>
          <p:cNvPr id="7"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341802" y="1753295"/>
            <a:ext cx="191289" cy="191294"/>
          </a:xfrm>
          <a:prstGeom prst="rect">
            <a:avLst/>
          </a:prstGeom>
        </p:spPr>
      </p:pic>
      <p:sp>
        <p:nvSpPr>
          <p:cNvPr id="8" name="Text 5"/>
          <p:cNvSpPr/>
          <p:nvPr/>
        </p:nvSpPr>
        <p:spPr>
          <a:xfrm>
            <a:off x="809506" y="2167930"/>
            <a:ext cx="3255980" cy="221456"/>
          </a:xfrm>
          <a:prstGeom prst="rect">
            <a:avLst/>
          </a:prstGeom>
          <a:noFill/>
          <a:ln/>
        </p:spPr>
        <p:txBody>
          <a:bodyPr wrap="none" lIns="0" tIns="0" rIns="0" bIns="0" rtlCol="0" anchor="t"/>
          <a:lstStyle/>
          <a:p>
            <a:pPr marL="0" indent="0" algn="ctr">
              <a:lnSpc>
                <a:spcPct val="104000"/>
              </a:lnSpc>
              <a:buNone/>
            </a:pPr>
            <a:r>
              <a:rPr lang="en-US" sz="1350" dirty="0">
                <a:solidFill>
                  <a:srgbClr val="DCD7E5"/>
                </a:solidFill>
                <a:latin typeface="Montserrat" pitchFamily="34" charset="0"/>
                <a:ea typeface="Montserrat" pitchFamily="34" charset="-122"/>
                <a:cs typeface="Montserrat" pitchFamily="34" charset="-120"/>
              </a:rPr>
              <a:t>Frontend</a:t>
            </a:r>
            <a:endParaRPr lang="en-US" sz="1350" dirty="0"/>
          </a:p>
        </p:txBody>
      </p:sp>
      <p:sp>
        <p:nvSpPr>
          <p:cNvPr id="9" name="Text 6"/>
          <p:cNvSpPr/>
          <p:nvPr/>
        </p:nvSpPr>
        <p:spPr>
          <a:xfrm>
            <a:off x="809506" y="2453084"/>
            <a:ext cx="3255980" cy="198438"/>
          </a:xfrm>
          <a:prstGeom prst="rect">
            <a:avLst/>
          </a:prstGeom>
          <a:noFill/>
          <a:ln/>
        </p:spPr>
        <p:txBody>
          <a:bodyPr wrap="none" lIns="0" tIns="0" rIns="0" bIns="0" rtlCol="0" anchor="t"/>
          <a:lstStyle/>
          <a:p>
            <a:pPr marL="0" indent="0" algn="ctr">
              <a:lnSpc>
                <a:spcPct val="117000"/>
              </a:lnSpc>
              <a:buNone/>
            </a:pPr>
            <a:r>
              <a:rPr lang="en-US" sz="1100" dirty="0">
                <a:solidFill>
                  <a:srgbClr val="DCD7E5"/>
                </a:solidFill>
                <a:latin typeface="Heebo Light" pitchFamily="34" charset="0"/>
                <a:ea typeface="Heebo Light" pitchFamily="34" charset="-122"/>
                <a:cs typeface="Heebo Light" pitchFamily="34" charset="-120"/>
              </a:rPr>
              <a:t>HTML5, CSS3 &amp; JavaScript — responsive, modern UI</a:t>
            </a:r>
            <a:endParaRPr lang="en-US" sz="1100" dirty="0"/>
          </a:p>
        </p:txBody>
      </p:sp>
      <p:sp>
        <p:nvSpPr>
          <p:cNvPr id="10" name="Shape 7"/>
          <p:cNvSpPr/>
          <p:nvPr/>
        </p:nvSpPr>
        <p:spPr>
          <a:xfrm>
            <a:off x="4319777" y="1488380"/>
            <a:ext cx="3552042" cy="1509613"/>
          </a:xfrm>
          <a:prstGeom prst="roundRect">
            <a:avLst>
              <a:gd name="adj" fmla="val 3944"/>
            </a:avLst>
          </a:prstGeom>
          <a:solidFill>
            <a:srgbClr val="31136C"/>
          </a:solidFill>
          <a:ln w="6350">
            <a:solidFill>
              <a:srgbClr val="D8AFF8"/>
            </a:solidFill>
            <a:prstDash val="solid"/>
          </a:ln>
        </p:spPr>
      </p:sp>
      <p:sp>
        <p:nvSpPr>
          <p:cNvPr id="11" name="Shape 8"/>
          <p:cNvSpPr/>
          <p:nvPr/>
        </p:nvSpPr>
        <p:spPr>
          <a:xfrm>
            <a:off x="5883128" y="1636415"/>
            <a:ext cx="425241" cy="425252"/>
          </a:xfrm>
          <a:prstGeom prst="ellipse">
            <a:avLst/>
          </a:prstGeom>
          <a:solidFill>
            <a:srgbClr val="D8AFF8"/>
          </a:solidFill>
          <a:ln/>
        </p:spPr>
      </p:sp>
      <p:pic>
        <p:nvPicPr>
          <p:cNvPr id="12"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000104" y="1753295"/>
            <a:ext cx="191289" cy="191294"/>
          </a:xfrm>
          <a:prstGeom prst="rect">
            <a:avLst/>
          </a:prstGeom>
        </p:spPr>
      </p:pic>
      <p:sp>
        <p:nvSpPr>
          <p:cNvPr id="13" name="Text 9"/>
          <p:cNvSpPr/>
          <p:nvPr/>
        </p:nvSpPr>
        <p:spPr>
          <a:xfrm>
            <a:off x="4467808" y="2167930"/>
            <a:ext cx="3255980" cy="221456"/>
          </a:xfrm>
          <a:prstGeom prst="rect">
            <a:avLst/>
          </a:prstGeom>
          <a:noFill/>
          <a:ln/>
        </p:spPr>
        <p:txBody>
          <a:bodyPr wrap="none" lIns="0" tIns="0" rIns="0" bIns="0" rtlCol="0" anchor="t"/>
          <a:lstStyle/>
          <a:p>
            <a:pPr marL="0" indent="0" algn="ctr">
              <a:lnSpc>
                <a:spcPct val="104000"/>
              </a:lnSpc>
              <a:buNone/>
            </a:pPr>
            <a:r>
              <a:rPr lang="en-US" sz="1350" dirty="0">
                <a:solidFill>
                  <a:srgbClr val="DCD7E5"/>
                </a:solidFill>
                <a:latin typeface="Montserrat" pitchFamily="34" charset="0"/>
                <a:ea typeface="Montserrat" pitchFamily="34" charset="-122"/>
                <a:cs typeface="Montserrat" pitchFamily="34" charset="-120"/>
              </a:rPr>
              <a:t>Backend</a:t>
            </a:r>
            <a:endParaRPr lang="en-US" sz="1350" dirty="0"/>
          </a:p>
        </p:txBody>
      </p:sp>
      <p:sp>
        <p:nvSpPr>
          <p:cNvPr id="14" name="Text 10"/>
          <p:cNvSpPr/>
          <p:nvPr/>
        </p:nvSpPr>
        <p:spPr>
          <a:xfrm>
            <a:off x="4467808" y="2453084"/>
            <a:ext cx="3255980" cy="198438"/>
          </a:xfrm>
          <a:prstGeom prst="rect">
            <a:avLst/>
          </a:prstGeom>
          <a:noFill/>
          <a:ln/>
        </p:spPr>
        <p:txBody>
          <a:bodyPr wrap="none" lIns="0" tIns="0" rIns="0" bIns="0" rtlCol="0" anchor="t"/>
          <a:lstStyle/>
          <a:p>
            <a:pPr marL="0" indent="0" algn="ctr">
              <a:lnSpc>
                <a:spcPct val="117000"/>
              </a:lnSpc>
              <a:buNone/>
            </a:pPr>
            <a:r>
              <a:rPr lang="en-US" sz="1100" dirty="0">
                <a:solidFill>
                  <a:srgbClr val="DCD7E5"/>
                </a:solidFill>
                <a:latin typeface="Heebo Light" pitchFamily="34" charset="0"/>
                <a:ea typeface="Heebo Light" pitchFamily="34" charset="-122"/>
                <a:cs typeface="Heebo Light" pitchFamily="34" charset="-120"/>
              </a:rPr>
              <a:t>Python Flask — lightweight, flexible web framework</a:t>
            </a:r>
            <a:endParaRPr lang="en-US" sz="1100" dirty="0"/>
          </a:p>
        </p:txBody>
      </p:sp>
      <p:sp>
        <p:nvSpPr>
          <p:cNvPr id="15" name="Shape 11"/>
          <p:cNvSpPr/>
          <p:nvPr/>
        </p:nvSpPr>
        <p:spPr>
          <a:xfrm>
            <a:off x="7978079" y="1488380"/>
            <a:ext cx="3552042" cy="1509613"/>
          </a:xfrm>
          <a:prstGeom prst="roundRect">
            <a:avLst>
              <a:gd name="adj" fmla="val 3944"/>
            </a:avLst>
          </a:prstGeom>
          <a:solidFill>
            <a:srgbClr val="31136C"/>
          </a:solidFill>
          <a:ln w="6350">
            <a:solidFill>
              <a:srgbClr val="D8AFF8"/>
            </a:solidFill>
            <a:prstDash val="solid"/>
          </a:ln>
        </p:spPr>
      </p:sp>
      <p:sp>
        <p:nvSpPr>
          <p:cNvPr id="16" name="Shape 12"/>
          <p:cNvSpPr/>
          <p:nvPr/>
        </p:nvSpPr>
        <p:spPr>
          <a:xfrm>
            <a:off x="9541430" y="1636415"/>
            <a:ext cx="425241" cy="425252"/>
          </a:xfrm>
          <a:prstGeom prst="ellipse">
            <a:avLst/>
          </a:prstGeom>
          <a:solidFill>
            <a:srgbClr val="D8AFF8"/>
          </a:solidFill>
          <a:ln/>
        </p:spPr>
      </p:sp>
      <p:pic>
        <p:nvPicPr>
          <p:cNvPr id="17"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658406" y="1753295"/>
            <a:ext cx="191289" cy="191294"/>
          </a:xfrm>
          <a:prstGeom prst="rect">
            <a:avLst/>
          </a:prstGeom>
        </p:spPr>
      </p:pic>
      <p:sp>
        <p:nvSpPr>
          <p:cNvPr id="18" name="Text 13"/>
          <p:cNvSpPr/>
          <p:nvPr/>
        </p:nvSpPr>
        <p:spPr>
          <a:xfrm>
            <a:off x="8126110" y="2167930"/>
            <a:ext cx="3255980" cy="221456"/>
          </a:xfrm>
          <a:prstGeom prst="rect">
            <a:avLst/>
          </a:prstGeom>
          <a:noFill/>
          <a:ln/>
        </p:spPr>
        <p:txBody>
          <a:bodyPr wrap="none" lIns="0" tIns="0" rIns="0" bIns="0" rtlCol="0" anchor="t"/>
          <a:lstStyle/>
          <a:p>
            <a:pPr marL="0" indent="0" algn="ctr">
              <a:lnSpc>
                <a:spcPct val="104000"/>
              </a:lnSpc>
              <a:buNone/>
            </a:pPr>
            <a:r>
              <a:rPr lang="en-US" sz="1350" dirty="0">
                <a:solidFill>
                  <a:srgbClr val="DCD7E5"/>
                </a:solidFill>
                <a:latin typeface="Montserrat" pitchFamily="34" charset="0"/>
                <a:ea typeface="Montserrat" pitchFamily="34" charset="-122"/>
                <a:cs typeface="Montserrat" pitchFamily="34" charset="-120"/>
              </a:rPr>
              <a:t>Database</a:t>
            </a:r>
            <a:endParaRPr lang="en-US" sz="1350" dirty="0"/>
          </a:p>
        </p:txBody>
      </p:sp>
      <p:sp>
        <p:nvSpPr>
          <p:cNvPr id="19" name="Text 14"/>
          <p:cNvSpPr/>
          <p:nvPr/>
        </p:nvSpPr>
        <p:spPr>
          <a:xfrm>
            <a:off x="8126110" y="2453084"/>
            <a:ext cx="3255980" cy="396875"/>
          </a:xfrm>
          <a:prstGeom prst="rect">
            <a:avLst/>
          </a:prstGeom>
          <a:noFill/>
          <a:ln/>
        </p:spPr>
        <p:txBody>
          <a:bodyPr wrap="square" lIns="0" tIns="0" rIns="0" bIns="0" rtlCol="0" anchor="t">
            <a:normAutofit/>
          </a:bodyPr>
          <a:lstStyle/>
          <a:p>
            <a:pPr marL="0" indent="0" algn="ctr">
              <a:lnSpc>
                <a:spcPct val="117000"/>
              </a:lnSpc>
              <a:buNone/>
            </a:pPr>
            <a:r>
              <a:rPr lang="en-US" sz="1100" dirty="0">
                <a:solidFill>
                  <a:srgbClr val="DCD7E5"/>
                </a:solidFill>
                <a:latin typeface="Heebo Light" pitchFamily="34" charset="0"/>
                <a:ea typeface="Heebo Light" pitchFamily="34" charset="-122"/>
                <a:cs typeface="Heebo Light" pitchFamily="34" charset="-120"/>
              </a:rPr>
              <a:t>SQLite — stores users, roles, and document metadata</a:t>
            </a:r>
            <a:endParaRPr lang="en-US" sz="1100" dirty="0"/>
          </a:p>
        </p:txBody>
      </p:sp>
      <p:sp>
        <p:nvSpPr>
          <p:cNvPr id="20" name="Shape 15"/>
          <p:cNvSpPr/>
          <p:nvPr/>
        </p:nvSpPr>
        <p:spPr>
          <a:xfrm>
            <a:off x="661475" y="3104257"/>
            <a:ext cx="3552042" cy="1509613"/>
          </a:xfrm>
          <a:prstGeom prst="roundRect">
            <a:avLst>
              <a:gd name="adj" fmla="val 3944"/>
            </a:avLst>
          </a:prstGeom>
          <a:solidFill>
            <a:srgbClr val="31136C"/>
          </a:solidFill>
          <a:ln w="6350">
            <a:solidFill>
              <a:srgbClr val="D8AFF8"/>
            </a:solidFill>
            <a:prstDash val="solid"/>
          </a:ln>
        </p:spPr>
      </p:sp>
      <p:sp>
        <p:nvSpPr>
          <p:cNvPr id="21" name="Shape 16"/>
          <p:cNvSpPr/>
          <p:nvPr/>
        </p:nvSpPr>
        <p:spPr>
          <a:xfrm>
            <a:off x="2224826" y="3252291"/>
            <a:ext cx="425241" cy="425252"/>
          </a:xfrm>
          <a:prstGeom prst="ellipse">
            <a:avLst/>
          </a:prstGeom>
          <a:solidFill>
            <a:srgbClr val="D8AFF8"/>
          </a:solidFill>
          <a:ln/>
        </p:spPr>
      </p:sp>
      <p:pic>
        <p:nvPicPr>
          <p:cNvPr id="22"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2341802" y="3369171"/>
            <a:ext cx="191289" cy="191294"/>
          </a:xfrm>
          <a:prstGeom prst="rect">
            <a:avLst/>
          </a:prstGeom>
        </p:spPr>
      </p:pic>
      <p:sp>
        <p:nvSpPr>
          <p:cNvPr id="23" name="Text 17"/>
          <p:cNvSpPr/>
          <p:nvPr/>
        </p:nvSpPr>
        <p:spPr>
          <a:xfrm>
            <a:off x="809506" y="3783806"/>
            <a:ext cx="3255980" cy="221456"/>
          </a:xfrm>
          <a:prstGeom prst="rect">
            <a:avLst/>
          </a:prstGeom>
          <a:noFill/>
          <a:ln/>
        </p:spPr>
        <p:txBody>
          <a:bodyPr wrap="none" lIns="0" tIns="0" rIns="0" bIns="0" rtlCol="0" anchor="t"/>
          <a:lstStyle/>
          <a:p>
            <a:pPr marL="0" indent="0" algn="ctr">
              <a:lnSpc>
                <a:spcPct val="104000"/>
              </a:lnSpc>
              <a:buNone/>
            </a:pPr>
            <a:r>
              <a:rPr lang="en-US" sz="1350" dirty="0">
                <a:solidFill>
                  <a:srgbClr val="DCD7E5"/>
                </a:solidFill>
                <a:latin typeface="Montserrat" pitchFamily="34" charset="0"/>
                <a:ea typeface="Montserrat" pitchFamily="34" charset="-122"/>
                <a:cs typeface="Montserrat" pitchFamily="34" charset="-120"/>
              </a:rPr>
              <a:t>Cloud Storage</a:t>
            </a:r>
            <a:endParaRPr lang="en-US" sz="1350" dirty="0"/>
          </a:p>
        </p:txBody>
      </p:sp>
      <p:sp>
        <p:nvSpPr>
          <p:cNvPr id="24" name="Text 18"/>
          <p:cNvSpPr/>
          <p:nvPr/>
        </p:nvSpPr>
        <p:spPr>
          <a:xfrm>
            <a:off x="809506" y="4068961"/>
            <a:ext cx="3255980" cy="198438"/>
          </a:xfrm>
          <a:prstGeom prst="rect">
            <a:avLst/>
          </a:prstGeom>
          <a:noFill/>
          <a:ln/>
        </p:spPr>
        <p:txBody>
          <a:bodyPr wrap="none" lIns="0" tIns="0" rIns="0" bIns="0" rtlCol="0" anchor="t"/>
          <a:lstStyle/>
          <a:p>
            <a:pPr marL="0" indent="0" algn="ctr">
              <a:lnSpc>
                <a:spcPct val="117000"/>
              </a:lnSpc>
              <a:buNone/>
            </a:pPr>
            <a:r>
              <a:rPr lang="en-US" sz="1100" dirty="0">
                <a:solidFill>
                  <a:srgbClr val="DCD7E5"/>
                </a:solidFill>
                <a:latin typeface="Heebo Light" pitchFamily="34" charset="0"/>
                <a:ea typeface="Heebo Light" pitchFamily="34" charset="-122"/>
                <a:cs typeface="Heebo Light" pitchFamily="34" charset="-120"/>
              </a:rPr>
              <a:t>Amazon S3 — scalable, durable object storage</a:t>
            </a:r>
            <a:endParaRPr lang="en-US" sz="1100" dirty="0"/>
          </a:p>
        </p:txBody>
      </p:sp>
      <p:sp>
        <p:nvSpPr>
          <p:cNvPr id="25" name="Shape 19"/>
          <p:cNvSpPr/>
          <p:nvPr/>
        </p:nvSpPr>
        <p:spPr>
          <a:xfrm>
            <a:off x="4319777" y="3104257"/>
            <a:ext cx="3552042" cy="1509613"/>
          </a:xfrm>
          <a:prstGeom prst="roundRect">
            <a:avLst>
              <a:gd name="adj" fmla="val 3944"/>
            </a:avLst>
          </a:prstGeom>
          <a:solidFill>
            <a:srgbClr val="31136C"/>
          </a:solidFill>
          <a:ln w="6350">
            <a:solidFill>
              <a:srgbClr val="D8AFF8"/>
            </a:solidFill>
            <a:prstDash val="solid"/>
          </a:ln>
        </p:spPr>
      </p:sp>
      <p:sp>
        <p:nvSpPr>
          <p:cNvPr id="26" name="Shape 20"/>
          <p:cNvSpPr/>
          <p:nvPr/>
        </p:nvSpPr>
        <p:spPr>
          <a:xfrm>
            <a:off x="5883128" y="3252291"/>
            <a:ext cx="425241" cy="425252"/>
          </a:xfrm>
          <a:prstGeom prst="ellipse">
            <a:avLst/>
          </a:prstGeom>
          <a:solidFill>
            <a:srgbClr val="D8AFF8"/>
          </a:solidFill>
          <a:ln/>
        </p:spPr>
      </p:sp>
      <p:pic>
        <p:nvPicPr>
          <p:cNvPr id="27"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6000104" y="3369171"/>
            <a:ext cx="191289" cy="191294"/>
          </a:xfrm>
          <a:prstGeom prst="rect">
            <a:avLst/>
          </a:prstGeom>
        </p:spPr>
      </p:pic>
      <p:sp>
        <p:nvSpPr>
          <p:cNvPr id="28" name="Text 21"/>
          <p:cNvSpPr/>
          <p:nvPr/>
        </p:nvSpPr>
        <p:spPr>
          <a:xfrm>
            <a:off x="4467808" y="3783806"/>
            <a:ext cx="3255980" cy="221456"/>
          </a:xfrm>
          <a:prstGeom prst="rect">
            <a:avLst/>
          </a:prstGeom>
          <a:noFill/>
          <a:ln/>
        </p:spPr>
        <p:txBody>
          <a:bodyPr wrap="none" lIns="0" tIns="0" rIns="0" bIns="0" rtlCol="0" anchor="t"/>
          <a:lstStyle/>
          <a:p>
            <a:pPr marL="0" indent="0" algn="ctr">
              <a:lnSpc>
                <a:spcPct val="104000"/>
              </a:lnSpc>
              <a:buNone/>
            </a:pPr>
            <a:r>
              <a:rPr lang="en-US" sz="1350" dirty="0">
                <a:solidFill>
                  <a:srgbClr val="DCD7E5"/>
                </a:solidFill>
                <a:latin typeface="Montserrat" pitchFamily="34" charset="0"/>
                <a:ea typeface="Montserrat" pitchFamily="34" charset="-122"/>
                <a:cs typeface="Montserrat" pitchFamily="34" charset="-120"/>
              </a:rPr>
              <a:t>Deployment</a:t>
            </a:r>
            <a:endParaRPr lang="en-US" sz="1350" dirty="0"/>
          </a:p>
        </p:txBody>
      </p:sp>
      <p:sp>
        <p:nvSpPr>
          <p:cNvPr id="29" name="Text 22"/>
          <p:cNvSpPr/>
          <p:nvPr/>
        </p:nvSpPr>
        <p:spPr>
          <a:xfrm>
            <a:off x="4467808" y="4068961"/>
            <a:ext cx="3255980" cy="396875"/>
          </a:xfrm>
          <a:prstGeom prst="rect">
            <a:avLst/>
          </a:prstGeom>
          <a:noFill/>
          <a:ln/>
        </p:spPr>
        <p:txBody>
          <a:bodyPr wrap="square" lIns="0" tIns="0" rIns="0" bIns="0" rtlCol="0" anchor="t">
            <a:normAutofit/>
          </a:bodyPr>
          <a:lstStyle/>
          <a:p>
            <a:pPr marL="0" indent="0" algn="ctr">
              <a:lnSpc>
                <a:spcPct val="117000"/>
              </a:lnSpc>
              <a:buNone/>
            </a:pPr>
            <a:r>
              <a:rPr lang="en-US" sz="1100" dirty="0">
                <a:solidFill>
                  <a:srgbClr val="DCD7E5"/>
                </a:solidFill>
                <a:latin typeface="Heebo Light" pitchFamily="34" charset="0"/>
                <a:ea typeface="Heebo Light" pitchFamily="34" charset="-122"/>
                <a:cs typeface="Heebo Light" pitchFamily="34" charset="-120"/>
              </a:rPr>
              <a:t>Docker — containerized, portable application environment</a:t>
            </a:r>
            <a:endParaRPr lang="en-US" sz="1100" dirty="0"/>
          </a:p>
        </p:txBody>
      </p:sp>
      <p:sp>
        <p:nvSpPr>
          <p:cNvPr id="30" name="Shape 23"/>
          <p:cNvSpPr/>
          <p:nvPr/>
        </p:nvSpPr>
        <p:spPr>
          <a:xfrm>
            <a:off x="7978079" y="3104257"/>
            <a:ext cx="3552042" cy="1509613"/>
          </a:xfrm>
          <a:prstGeom prst="roundRect">
            <a:avLst>
              <a:gd name="adj" fmla="val 3944"/>
            </a:avLst>
          </a:prstGeom>
          <a:solidFill>
            <a:srgbClr val="31136C"/>
          </a:solidFill>
          <a:ln w="6350">
            <a:solidFill>
              <a:srgbClr val="D8AFF8"/>
            </a:solidFill>
            <a:prstDash val="solid"/>
          </a:ln>
        </p:spPr>
      </p:sp>
      <p:sp>
        <p:nvSpPr>
          <p:cNvPr id="31" name="Shape 24"/>
          <p:cNvSpPr/>
          <p:nvPr/>
        </p:nvSpPr>
        <p:spPr>
          <a:xfrm>
            <a:off x="9541430" y="3252291"/>
            <a:ext cx="425241" cy="425252"/>
          </a:xfrm>
          <a:prstGeom prst="ellipse">
            <a:avLst/>
          </a:prstGeom>
          <a:solidFill>
            <a:srgbClr val="D8AFF8"/>
          </a:solidFill>
          <a:ln/>
        </p:spPr>
      </p:sp>
      <p:pic>
        <p:nvPicPr>
          <p:cNvPr id="32" name="Image 5"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9658406" y="3369171"/>
            <a:ext cx="191289" cy="191294"/>
          </a:xfrm>
          <a:prstGeom prst="rect">
            <a:avLst/>
          </a:prstGeom>
        </p:spPr>
      </p:pic>
      <p:sp>
        <p:nvSpPr>
          <p:cNvPr id="33" name="Text 25"/>
          <p:cNvSpPr/>
          <p:nvPr/>
        </p:nvSpPr>
        <p:spPr>
          <a:xfrm>
            <a:off x="8126110" y="3783806"/>
            <a:ext cx="3255980" cy="221456"/>
          </a:xfrm>
          <a:prstGeom prst="rect">
            <a:avLst/>
          </a:prstGeom>
          <a:noFill/>
          <a:ln/>
        </p:spPr>
        <p:txBody>
          <a:bodyPr wrap="none" lIns="0" tIns="0" rIns="0" bIns="0" rtlCol="0" anchor="t"/>
          <a:lstStyle/>
          <a:p>
            <a:pPr marL="0" indent="0" algn="ctr">
              <a:lnSpc>
                <a:spcPct val="104000"/>
              </a:lnSpc>
              <a:buNone/>
            </a:pPr>
            <a:r>
              <a:rPr lang="en-US" sz="1350" dirty="0">
                <a:solidFill>
                  <a:srgbClr val="DCD7E5"/>
                </a:solidFill>
                <a:latin typeface="Montserrat" pitchFamily="34" charset="0"/>
                <a:ea typeface="Montserrat" pitchFamily="34" charset="-122"/>
                <a:cs typeface="Montserrat" pitchFamily="34" charset="-120"/>
              </a:rPr>
              <a:t>Authentication</a:t>
            </a:r>
            <a:endParaRPr lang="en-US" sz="1350" dirty="0"/>
          </a:p>
        </p:txBody>
      </p:sp>
      <p:sp>
        <p:nvSpPr>
          <p:cNvPr id="34" name="Text 26"/>
          <p:cNvSpPr/>
          <p:nvPr/>
        </p:nvSpPr>
        <p:spPr>
          <a:xfrm>
            <a:off x="8126110" y="4068961"/>
            <a:ext cx="3255980" cy="198438"/>
          </a:xfrm>
          <a:prstGeom prst="rect">
            <a:avLst/>
          </a:prstGeom>
          <a:noFill/>
          <a:ln/>
        </p:spPr>
        <p:txBody>
          <a:bodyPr wrap="none" lIns="0" tIns="0" rIns="0" bIns="0" rtlCol="0" anchor="t"/>
          <a:lstStyle/>
          <a:p>
            <a:pPr marL="0" indent="0" algn="ctr">
              <a:lnSpc>
                <a:spcPct val="117000"/>
              </a:lnSpc>
              <a:buNone/>
            </a:pPr>
            <a:r>
              <a:rPr lang="en-US" sz="1100" dirty="0">
                <a:solidFill>
                  <a:srgbClr val="DCD7E5"/>
                </a:solidFill>
                <a:latin typeface="Heebo Light" pitchFamily="34" charset="0"/>
                <a:ea typeface="Heebo Light" pitchFamily="34" charset="-122"/>
                <a:cs typeface="Heebo Light" pitchFamily="34" charset="-120"/>
              </a:rPr>
              <a:t>Email OTP — secure two-factor user verification</a:t>
            </a:r>
            <a:endParaRPr lang="en-US" sz="1100" dirty="0"/>
          </a:p>
        </p:txBody>
      </p:sp>
      <p:sp>
        <p:nvSpPr>
          <p:cNvPr id="35" name="Shape 27"/>
          <p:cNvSpPr/>
          <p:nvPr/>
        </p:nvSpPr>
        <p:spPr>
          <a:xfrm>
            <a:off x="661475" y="4720134"/>
            <a:ext cx="10868646" cy="1509613"/>
          </a:xfrm>
          <a:prstGeom prst="roundRect">
            <a:avLst>
              <a:gd name="adj" fmla="val 3944"/>
            </a:avLst>
          </a:prstGeom>
          <a:solidFill>
            <a:srgbClr val="31136C"/>
          </a:solidFill>
          <a:ln w="6350">
            <a:solidFill>
              <a:srgbClr val="D8AFF8"/>
            </a:solidFill>
            <a:prstDash val="solid"/>
          </a:ln>
        </p:spPr>
      </p:sp>
      <p:sp>
        <p:nvSpPr>
          <p:cNvPr id="36" name="Shape 28"/>
          <p:cNvSpPr/>
          <p:nvPr/>
        </p:nvSpPr>
        <p:spPr>
          <a:xfrm>
            <a:off x="5883128" y="4868168"/>
            <a:ext cx="425241" cy="425252"/>
          </a:xfrm>
          <a:prstGeom prst="ellipse">
            <a:avLst/>
          </a:prstGeom>
          <a:solidFill>
            <a:srgbClr val="D8AFF8"/>
          </a:solidFill>
          <a:ln/>
        </p:spPr>
      </p:sp>
      <p:pic>
        <p:nvPicPr>
          <p:cNvPr id="37" name="Image 6" descr="preencoded.png"/>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6000104" y="4985048"/>
            <a:ext cx="191289" cy="191294"/>
          </a:xfrm>
          <a:prstGeom prst="rect">
            <a:avLst/>
          </a:prstGeom>
        </p:spPr>
      </p:pic>
      <p:sp>
        <p:nvSpPr>
          <p:cNvPr id="38" name="Text 29"/>
          <p:cNvSpPr/>
          <p:nvPr/>
        </p:nvSpPr>
        <p:spPr>
          <a:xfrm>
            <a:off x="809506" y="5399683"/>
            <a:ext cx="10572585" cy="221456"/>
          </a:xfrm>
          <a:prstGeom prst="rect">
            <a:avLst/>
          </a:prstGeom>
          <a:noFill/>
          <a:ln/>
        </p:spPr>
        <p:txBody>
          <a:bodyPr wrap="none" lIns="0" tIns="0" rIns="0" bIns="0" rtlCol="0" anchor="t"/>
          <a:lstStyle/>
          <a:p>
            <a:pPr marL="0" indent="0" algn="ctr">
              <a:lnSpc>
                <a:spcPct val="104000"/>
              </a:lnSpc>
              <a:buNone/>
            </a:pPr>
            <a:r>
              <a:rPr lang="en-US" sz="1350" dirty="0">
                <a:solidFill>
                  <a:srgbClr val="DCD7E5"/>
                </a:solidFill>
                <a:latin typeface="Montserrat" pitchFamily="34" charset="0"/>
                <a:ea typeface="Montserrat" pitchFamily="34" charset="-122"/>
                <a:cs typeface="Montserrat" pitchFamily="34" charset="-120"/>
              </a:rPr>
              <a:t>Security</a:t>
            </a:r>
            <a:endParaRPr lang="en-US" sz="1350" dirty="0"/>
          </a:p>
        </p:txBody>
      </p:sp>
      <p:sp>
        <p:nvSpPr>
          <p:cNvPr id="39" name="Text 30"/>
          <p:cNvSpPr/>
          <p:nvPr/>
        </p:nvSpPr>
        <p:spPr>
          <a:xfrm>
            <a:off x="809506" y="5684838"/>
            <a:ext cx="10572585" cy="396875"/>
          </a:xfrm>
          <a:prstGeom prst="rect">
            <a:avLst/>
          </a:prstGeom>
          <a:noFill/>
          <a:ln/>
        </p:spPr>
        <p:txBody>
          <a:bodyPr wrap="square" lIns="0" tIns="0" rIns="0" bIns="0" rtlCol="0" anchor="t">
            <a:normAutofit/>
          </a:bodyPr>
          <a:lstStyle/>
          <a:p>
            <a:pPr marL="0" indent="0" algn="ctr">
              <a:lnSpc>
                <a:spcPct val="117000"/>
              </a:lnSpc>
              <a:buNone/>
            </a:pPr>
            <a:r>
              <a:rPr lang="en-US" sz="1100" dirty="0">
                <a:solidFill>
                  <a:srgbClr val="DCD7E5"/>
                </a:solidFill>
                <a:latin typeface="Heebo Light" pitchFamily="34" charset="0"/>
                <a:ea typeface="Heebo Light" pitchFamily="34" charset="-122"/>
                <a:cs typeface="Heebo Light" pitchFamily="34" charset="-120"/>
              </a:rPr>
              <a:t>Password Hashing - Passwords are securely encrypted before storage to protect user credentials from unauthorized access.</a:t>
            </a:r>
            <a:endParaRPr lang="en-US" sz="1100" dirty="0"/>
          </a:p>
          <a:p>
            <a:pPr marL="0" indent="0" algn="ctr">
              <a:lnSpc>
                <a:spcPct val="117000"/>
              </a:lnSpc>
              <a:buNone/>
            </a:pPr>
            <a:r>
              <a:rPr lang="en-US" sz="1100" dirty="0">
                <a:solidFill>
                  <a:srgbClr val="DCD7E5"/>
                </a:solidFill>
                <a:latin typeface="Heebo Light" pitchFamily="34" charset="0"/>
                <a:ea typeface="Heebo Light" pitchFamily="34" charset="-122"/>
                <a:cs typeface="Heebo Light" pitchFamily="34" charset="-120"/>
              </a:rPr>
              <a:t>Role Based Access Control - Access permissions are assigned based on user roles, ensuring administrators and users have appropriate privileges.</a:t>
            </a:r>
            <a:endParaRPr lang="en-US" sz="1100" dirty="0"/>
          </a:p>
        </p:txBody>
      </p:sp>
      <p:sp>
        <p:nvSpPr>
          <p:cNvPr id="41" name="Rectangle 40">
            <a:extLst>
              <a:ext uri="{FF2B5EF4-FFF2-40B4-BE49-F238E27FC236}">
                <a16:creationId xmlns:a16="http://schemas.microsoft.com/office/drawing/2014/main" id="{BD41FC85-9A89-C19C-5516-4A140A371AD5}"/>
              </a:ext>
            </a:extLst>
          </p:cNvPr>
          <p:cNvSpPr/>
          <p:nvPr/>
        </p:nvSpPr>
        <p:spPr>
          <a:xfrm>
            <a:off x="10954139" y="6540759"/>
            <a:ext cx="1156996" cy="233265"/>
          </a:xfrm>
          <a:prstGeom prst="rect">
            <a:avLst/>
          </a:prstGeom>
          <a:solidFill>
            <a:srgbClr val="160E37"/>
          </a:solidFill>
          <a:ln>
            <a:solidFill>
              <a:srgbClr val="160E3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661475" y="636290"/>
            <a:ext cx="1566327" cy="243979"/>
          </a:xfrm>
          <a:prstGeom prst="roundRect">
            <a:avLst>
              <a:gd name="adj" fmla="val 22126"/>
            </a:avLst>
          </a:prstGeom>
          <a:noFill/>
          <a:ln w="6350">
            <a:solidFill>
              <a:srgbClr val="481C9E"/>
            </a:solidFill>
            <a:prstDash val="solid"/>
          </a:ln>
        </p:spPr>
      </p:sp>
      <p:sp>
        <p:nvSpPr>
          <p:cNvPr id="3" name="Text 1"/>
          <p:cNvSpPr/>
          <p:nvPr/>
        </p:nvSpPr>
        <p:spPr>
          <a:xfrm>
            <a:off x="757814" y="684411"/>
            <a:ext cx="1983234" cy="147737"/>
          </a:xfrm>
          <a:prstGeom prst="rect">
            <a:avLst/>
          </a:prstGeom>
          <a:noFill/>
          <a:ln/>
        </p:spPr>
        <p:txBody>
          <a:bodyPr wrap="none" lIns="0" tIns="0" rIns="0" bIns="0" rtlCol="0" anchor="t"/>
          <a:lstStyle/>
          <a:p>
            <a:pPr marL="0" indent="0" algn="l">
              <a:lnSpc>
                <a:spcPct val="96000"/>
              </a:lnSpc>
              <a:buNone/>
            </a:pPr>
            <a:r>
              <a:rPr lang="en-US" sz="1000" dirty="0">
                <a:solidFill>
                  <a:srgbClr val="481C9E"/>
                </a:solidFill>
                <a:latin typeface="Heebo Light" pitchFamily="34" charset="0"/>
                <a:ea typeface="Heebo Light" pitchFamily="34" charset="-122"/>
                <a:cs typeface="Heebo Light" pitchFamily="34" charset="-120"/>
              </a:rPr>
              <a:t>HOW IT ALL CONNECTS</a:t>
            </a:r>
            <a:endParaRPr lang="en-US" sz="1000" dirty="0"/>
          </a:p>
        </p:txBody>
      </p:sp>
      <p:sp>
        <p:nvSpPr>
          <p:cNvPr id="4" name="Text 2"/>
          <p:cNvSpPr/>
          <p:nvPr/>
        </p:nvSpPr>
        <p:spPr>
          <a:xfrm>
            <a:off x="661475" y="934839"/>
            <a:ext cx="10868745" cy="502047"/>
          </a:xfrm>
          <a:prstGeom prst="rect">
            <a:avLst/>
          </a:prstGeom>
          <a:noFill/>
          <a:ln/>
        </p:spPr>
        <p:txBody>
          <a:bodyPr wrap="none" lIns="0" tIns="0" rIns="0" bIns="0" rtlCol="0" anchor="t"/>
          <a:lstStyle/>
          <a:p>
            <a:pPr marL="0" indent="0" algn="l">
              <a:lnSpc>
                <a:spcPct val="104000"/>
              </a:lnSpc>
              <a:buNone/>
            </a:pPr>
            <a:r>
              <a:rPr lang="en-US" sz="3150" dirty="0">
                <a:solidFill>
                  <a:srgbClr val="F2F0F4"/>
                </a:solidFill>
                <a:latin typeface="Montserrat" pitchFamily="34" charset="0"/>
                <a:ea typeface="Montserrat" pitchFamily="34" charset="-122"/>
                <a:cs typeface="Montserrat" pitchFamily="34" charset="-120"/>
              </a:rPr>
              <a:t>System Architecture</a:t>
            </a:r>
            <a:endParaRPr lang="en-US" sz="3150" dirty="0"/>
          </a:p>
        </p:txBody>
      </p:sp>
      <p:pic>
        <p:nvPicPr>
          <p:cNvPr id="5" name="Image 0" descr="preencoded.png"/>
          <p:cNvPicPr>
            <a:picLocks noChangeAspect="1"/>
          </p:cNvPicPr>
          <p:nvPr/>
        </p:nvPicPr>
        <p:blipFill>
          <a:blip r:embed="rId3"/>
          <a:stretch>
            <a:fillRect/>
          </a:stretch>
        </p:blipFill>
        <p:spPr>
          <a:xfrm>
            <a:off x="2038994" y="1641673"/>
            <a:ext cx="8113609" cy="3713262"/>
          </a:xfrm>
          <a:prstGeom prst="rect">
            <a:avLst/>
          </a:prstGeom>
        </p:spPr>
      </p:pic>
      <p:sp>
        <p:nvSpPr>
          <p:cNvPr id="6" name="Text 3"/>
          <p:cNvSpPr/>
          <p:nvPr/>
        </p:nvSpPr>
        <p:spPr>
          <a:xfrm>
            <a:off x="7982253" y="2125769"/>
            <a:ext cx="1794821" cy="224358"/>
          </a:xfrm>
          <a:prstGeom prst="rect">
            <a:avLst/>
          </a:prstGeom>
          <a:noFill/>
          <a:ln/>
        </p:spPr>
        <p:txBody>
          <a:bodyPr wrap="none" lIns="0" tIns="0" rIns="0" bIns="0" rtlCol="0" anchor="t"/>
          <a:lstStyle/>
          <a:p>
            <a:pPr marL="0" indent="0" algn="l">
              <a:lnSpc>
                <a:spcPct val="104000"/>
              </a:lnSpc>
              <a:buNone/>
            </a:pPr>
            <a:r>
              <a:rPr lang="en-US" sz="1400" dirty="0">
                <a:solidFill>
                  <a:srgbClr val="DCD7E5"/>
                </a:solidFill>
                <a:latin typeface="Montserrat" pitchFamily="34" charset="0"/>
                <a:ea typeface="Montserrat" pitchFamily="34" charset="-122"/>
                <a:cs typeface="Montserrat" pitchFamily="34" charset="-120"/>
              </a:rPr>
              <a:t>Data &amp; Deployment</a:t>
            </a:r>
            <a:endParaRPr lang="en-US" sz="1400" dirty="0"/>
          </a:p>
        </p:txBody>
      </p:sp>
      <p:sp>
        <p:nvSpPr>
          <p:cNvPr id="7" name="Text 4"/>
          <p:cNvSpPr/>
          <p:nvPr/>
        </p:nvSpPr>
        <p:spPr>
          <a:xfrm>
            <a:off x="7982253" y="2413944"/>
            <a:ext cx="1978291" cy="332050"/>
          </a:xfrm>
          <a:prstGeom prst="rect">
            <a:avLst/>
          </a:prstGeom>
          <a:noFill/>
          <a:ln/>
        </p:spPr>
        <p:txBody>
          <a:bodyPr wrap="square" lIns="0" tIns="0" rIns="0" bIns="0" rtlCol="0" anchor="t">
            <a:normAutofit/>
          </a:bodyPr>
          <a:lstStyle/>
          <a:p>
            <a:pPr marL="0" indent="0" algn="l">
              <a:lnSpc>
                <a:spcPct val="96000"/>
              </a:lnSpc>
              <a:buNone/>
            </a:pPr>
            <a:r>
              <a:rPr lang="en-US" sz="1100" dirty="0">
                <a:solidFill>
                  <a:srgbClr val="DCD7E5"/>
                </a:solidFill>
                <a:latin typeface="Heebo Light" pitchFamily="34" charset="0"/>
                <a:ea typeface="Heebo Light" pitchFamily="34" charset="-122"/>
                <a:cs typeface="Heebo Light" pitchFamily="34" charset="-120"/>
              </a:rPr>
              <a:t>SQLite, S3 storage, Docker deployment</a:t>
            </a:r>
            <a:endParaRPr lang="en-US" sz="1100" dirty="0"/>
          </a:p>
        </p:txBody>
      </p:sp>
      <p:sp>
        <p:nvSpPr>
          <p:cNvPr id="8" name="Text 5"/>
          <p:cNvSpPr/>
          <p:nvPr/>
        </p:nvSpPr>
        <p:spPr>
          <a:xfrm>
            <a:off x="2254781" y="3429290"/>
            <a:ext cx="1794821" cy="224358"/>
          </a:xfrm>
          <a:prstGeom prst="rect">
            <a:avLst/>
          </a:prstGeom>
          <a:noFill/>
          <a:ln/>
        </p:spPr>
        <p:txBody>
          <a:bodyPr wrap="none" lIns="0" tIns="0" rIns="0" bIns="0" rtlCol="0" anchor="t"/>
          <a:lstStyle/>
          <a:p>
            <a:pPr marL="0" indent="0" algn="r">
              <a:lnSpc>
                <a:spcPct val="104000"/>
              </a:lnSpc>
              <a:buNone/>
            </a:pPr>
            <a:r>
              <a:rPr lang="en-US" sz="1400" dirty="0">
                <a:solidFill>
                  <a:srgbClr val="DCD7E5"/>
                </a:solidFill>
                <a:latin typeface="Montserrat" pitchFamily="34" charset="0"/>
                <a:ea typeface="Montserrat" pitchFamily="34" charset="-122"/>
                <a:cs typeface="Montserrat" pitchFamily="34" charset="-120"/>
              </a:rPr>
              <a:t>Flask Backend</a:t>
            </a:r>
            <a:endParaRPr lang="en-US" sz="1400" dirty="0"/>
          </a:p>
        </p:txBody>
      </p:sp>
      <p:sp>
        <p:nvSpPr>
          <p:cNvPr id="9" name="Text 6"/>
          <p:cNvSpPr/>
          <p:nvPr/>
        </p:nvSpPr>
        <p:spPr>
          <a:xfrm>
            <a:off x="2230849" y="3717465"/>
            <a:ext cx="1818752" cy="166025"/>
          </a:xfrm>
          <a:prstGeom prst="rect">
            <a:avLst/>
          </a:prstGeom>
          <a:noFill/>
          <a:ln/>
        </p:spPr>
        <p:txBody>
          <a:bodyPr wrap="none" lIns="0" tIns="0" rIns="0" bIns="0" rtlCol="0" anchor="t"/>
          <a:lstStyle/>
          <a:p>
            <a:pPr marL="0" indent="0" algn="r">
              <a:lnSpc>
                <a:spcPct val="96000"/>
              </a:lnSpc>
              <a:buNone/>
            </a:pPr>
            <a:r>
              <a:rPr lang="en-US" sz="1100" dirty="0">
                <a:solidFill>
                  <a:srgbClr val="DCD7E5"/>
                </a:solidFill>
                <a:latin typeface="Heebo Light" pitchFamily="34" charset="0"/>
                <a:ea typeface="Heebo Light" pitchFamily="34" charset="-122"/>
                <a:cs typeface="Heebo Light" pitchFamily="34" charset="-120"/>
              </a:rPr>
              <a:t>API and business logic</a:t>
            </a:r>
            <a:endParaRPr lang="en-US" sz="1100" dirty="0"/>
          </a:p>
        </p:txBody>
      </p:sp>
      <p:sp>
        <p:nvSpPr>
          <p:cNvPr id="10" name="Text 7"/>
          <p:cNvSpPr/>
          <p:nvPr/>
        </p:nvSpPr>
        <p:spPr>
          <a:xfrm>
            <a:off x="7982253" y="4059487"/>
            <a:ext cx="1794821" cy="224358"/>
          </a:xfrm>
          <a:prstGeom prst="rect">
            <a:avLst/>
          </a:prstGeom>
          <a:noFill/>
          <a:ln/>
        </p:spPr>
        <p:txBody>
          <a:bodyPr wrap="none" lIns="0" tIns="0" rIns="0" bIns="0" rtlCol="0" anchor="t"/>
          <a:lstStyle/>
          <a:p>
            <a:pPr marL="0" indent="0" algn="l">
              <a:lnSpc>
                <a:spcPct val="104000"/>
              </a:lnSpc>
              <a:buNone/>
            </a:pPr>
            <a:r>
              <a:rPr lang="en-US" sz="1400" dirty="0">
                <a:solidFill>
                  <a:srgbClr val="DCD7E5"/>
                </a:solidFill>
                <a:latin typeface="Montserrat" pitchFamily="34" charset="0"/>
                <a:ea typeface="Montserrat" pitchFamily="34" charset="-122"/>
                <a:cs typeface="Montserrat" pitchFamily="34" charset="-120"/>
              </a:rPr>
              <a:t>User Interface</a:t>
            </a:r>
            <a:endParaRPr lang="en-US" sz="1400" dirty="0"/>
          </a:p>
        </p:txBody>
      </p:sp>
      <p:sp>
        <p:nvSpPr>
          <p:cNvPr id="11" name="Text 8"/>
          <p:cNvSpPr/>
          <p:nvPr/>
        </p:nvSpPr>
        <p:spPr>
          <a:xfrm>
            <a:off x="7982253" y="4347663"/>
            <a:ext cx="1978291" cy="166025"/>
          </a:xfrm>
          <a:prstGeom prst="rect">
            <a:avLst/>
          </a:prstGeom>
          <a:noFill/>
          <a:ln/>
        </p:spPr>
        <p:txBody>
          <a:bodyPr wrap="none" lIns="0" tIns="0" rIns="0" bIns="0" rtlCol="0" anchor="t"/>
          <a:lstStyle/>
          <a:p>
            <a:pPr marL="0" indent="0" algn="l">
              <a:lnSpc>
                <a:spcPct val="96000"/>
              </a:lnSpc>
              <a:buNone/>
            </a:pPr>
            <a:r>
              <a:rPr lang="en-US" sz="1100" dirty="0">
                <a:solidFill>
                  <a:srgbClr val="DCD7E5"/>
                </a:solidFill>
                <a:latin typeface="Heebo Light" pitchFamily="34" charset="0"/>
                <a:ea typeface="Heebo Light" pitchFamily="34" charset="-122"/>
                <a:cs typeface="Heebo Light" pitchFamily="34" charset="-120"/>
              </a:rPr>
              <a:t>Web browser client</a:t>
            </a:r>
            <a:endParaRPr lang="en-US" sz="1100" dirty="0"/>
          </a:p>
        </p:txBody>
      </p:sp>
      <p:sp>
        <p:nvSpPr>
          <p:cNvPr id="12" name="Text 9"/>
          <p:cNvSpPr/>
          <p:nvPr/>
        </p:nvSpPr>
        <p:spPr>
          <a:xfrm>
            <a:off x="661475" y="5508526"/>
            <a:ext cx="10868745" cy="713184"/>
          </a:xfrm>
          <a:prstGeom prst="rect">
            <a:avLst/>
          </a:prstGeom>
          <a:noFill/>
          <a:ln/>
        </p:spPr>
        <p:txBody>
          <a:bodyPr wrap="square" lIns="0" tIns="0" rIns="0" bIns="0" rtlCol="0" anchor="t">
            <a:normAutofit/>
          </a:bodyPr>
          <a:lstStyle/>
          <a:p>
            <a:pPr marL="0" indent="0" algn="l">
              <a:lnSpc>
                <a:spcPct val="123000"/>
              </a:lnSpc>
              <a:buNone/>
            </a:pPr>
            <a:r>
              <a:rPr lang="en-US" sz="1250" dirty="0">
                <a:solidFill>
                  <a:srgbClr val="DCD7E5"/>
                </a:solidFill>
                <a:latin typeface="Heebo Light" pitchFamily="34" charset="0"/>
                <a:ea typeface="Heebo Light" pitchFamily="34" charset="-122"/>
                <a:cs typeface="Heebo Light" pitchFamily="34" charset="-120"/>
              </a:rPr>
              <a:t>CloudVault Eclipse uses a clean three-tier architecture. The Flask backend acts as the central orchestrator — handling authentication, processing requests, managing document metadata in SQLite, and interfacing with AWS S3 for durable file storage. Docker ensures the entire stack runs consistently across any environment.</a:t>
            </a:r>
            <a:endParaRPr lang="en-US" sz="1250" dirty="0"/>
          </a:p>
        </p:txBody>
      </p:sp>
      <p:sp>
        <p:nvSpPr>
          <p:cNvPr id="14" name="Rectangle 13">
            <a:extLst>
              <a:ext uri="{FF2B5EF4-FFF2-40B4-BE49-F238E27FC236}">
                <a16:creationId xmlns:a16="http://schemas.microsoft.com/office/drawing/2014/main" id="{CA182A81-5CBA-9F43-BA14-5080D589E295}"/>
              </a:ext>
            </a:extLst>
          </p:cNvPr>
          <p:cNvSpPr/>
          <p:nvPr/>
        </p:nvSpPr>
        <p:spPr>
          <a:xfrm>
            <a:off x="10954139" y="6540759"/>
            <a:ext cx="1156996" cy="233265"/>
          </a:xfrm>
          <a:prstGeom prst="rect">
            <a:avLst/>
          </a:prstGeom>
          <a:solidFill>
            <a:srgbClr val="160E37"/>
          </a:solidFill>
          <a:ln>
            <a:solidFill>
              <a:srgbClr val="160E3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661475" y="525066"/>
            <a:ext cx="8711585" cy="5807869"/>
          </a:xfrm>
          <a:prstGeom prst="rect">
            <a:avLst/>
          </a:prstGeom>
        </p:spPr>
      </p:pic>
      <p:sp>
        <p:nvSpPr>
          <p:cNvPr id="4" name="Rectangle 3">
            <a:extLst>
              <a:ext uri="{FF2B5EF4-FFF2-40B4-BE49-F238E27FC236}">
                <a16:creationId xmlns:a16="http://schemas.microsoft.com/office/drawing/2014/main" id="{9F6E5264-3458-4EC6-C301-E6A343E85CF1}"/>
              </a:ext>
            </a:extLst>
          </p:cNvPr>
          <p:cNvSpPr/>
          <p:nvPr/>
        </p:nvSpPr>
        <p:spPr>
          <a:xfrm>
            <a:off x="10954139" y="6540759"/>
            <a:ext cx="1156996" cy="233265"/>
          </a:xfrm>
          <a:prstGeom prst="rect">
            <a:avLst/>
          </a:prstGeom>
          <a:solidFill>
            <a:srgbClr val="160E37"/>
          </a:solidFill>
          <a:ln>
            <a:solidFill>
              <a:srgbClr val="160E3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661475" y="793055"/>
            <a:ext cx="1565137" cy="243979"/>
          </a:xfrm>
          <a:prstGeom prst="roundRect">
            <a:avLst>
              <a:gd name="adj" fmla="val 22126"/>
            </a:avLst>
          </a:prstGeom>
          <a:noFill/>
          <a:ln w="6350">
            <a:solidFill>
              <a:srgbClr val="481C9E"/>
            </a:solidFill>
            <a:prstDash val="solid"/>
          </a:ln>
        </p:spPr>
      </p:sp>
      <p:sp>
        <p:nvSpPr>
          <p:cNvPr id="3" name="Text 1"/>
          <p:cNvSpPr/>
          <p:nvPr/>
        </p:nvSpPr>
        <p:spPr>
          <a:xfrm>
            <a:off x="757814" y="841177"/>
            <a:ext cx="1982043" cy="147737"/>
          </a:xfrm>
          <a:prstGeom prst="rect">
            <a:avLst/>
          </a:prstGeom>
          <a:noFill/>
          <a:ln/>
        </p:spPr>
        <p:txBody>
          <a:bodyPr wrap="none" lIns="0" tIns="0" rIns="0" bIns="0" rtlCol="0" anchor="t"/>
          <a:lstStyle/>
          <a:p>
            <a:pPr marL="0" indent="0" algn="l">
              <a:lnSpc>
                <a:spcPct val="96000"/>
              </a:lnSpc>
              <a:buNone/>
            </a:pPr>
            <a:r>
              <a:rPr lang="en-US" sz="1000" dirty="0">
                <a:solidFill>
                  <a:srgbClr val="481C9E"/>
                </a:solidFill>
                <a:latin typeface="Heebo Light" pitchFamily="34" charset="0"/>
                <a:ea typeface="Heebo Light" pitchFamily="34" charset="-122"/>
                <a:cs typeface="Heebo Light" pitchFamily="34" charset="-120"/>
              </a:rPr>
              <a:t>END-USER EXPERIENCE</a:t>
            </a:r>
            <a:endParaRPr lang="en-US" sz="1000" dirty="0"/>
          </a:p>
        </p:txBody>
      </p:sp>
      <p:sp>
        <p:nvSpPr>
          <p:cNvPr id="4" name="Text 2"/>
          <p:cNvSpPr/>
          <p:nvPr/>
        </p:nvSpPr>
        <p:spPr>
          <a:xfrm>
            <a:off x="661475" y="1091605"/>
            <a:ext cx="10868745" cy="502047"/>
          </a:xfrm>
          <a:prstGeom prst="rect">
            <a:avLst/>
          </a:prstGeom>
          <a:noFill/>
          <a:ln/>
        </p:spPr>
        <p:txBody>
          <a:bodyPr wrap="none" lIns="0" tIns="0" rIns="0" bIns="0" rtlCol="0" anchor="t"/>
          <a:lstStyle/>
          <a:p>
            <a:pPr marL="0" indent="0" algn="l">
              <a:lnSpc>
                <a:spcPct val="104000"/>
              </a:lnSpc>
              <a:buNone/>
            </a:pPr>
            <a:r>
              <a:rPr lang="en-US" sz="3150" dirty="0">
                <a:solidFill>
                  <a:srgbClr val="F2F0F4"/>
                </a:solidFill>
                <a:latin typeface="Montserrat" pitchFamily="34" charset="0"/>
                <a:ea typeface="Montserrat" pitchFamily="34" charset="-122"/>
                <a:cs typeface="Montserrat" pitchFamily="34" charset="-120"/>
              </a:rPr>
              <a:t>User Module</a:t>
            </a:r>
            <a:endParaRPr lang="en-US" sz="3150" dirty="0"/>
          </a:p>
        </p:txBody>
      </p:sp>
      <p:pic>
        <p:nvPicPr>
          <p:cNvPr id="5" name="Image 0" descr="preencoded.png"/>
          <p:cNvPicPr>
            <a:picLocks noChangeAspect="1"/>
          </p:cNvPicPr>
          <p:nvPr/>
        </p:nvPicPr>
        <p:blipFill>
          <a:blip r:embed="rId3"/>
          <a:stretch>
            <a:fillRect/>
          </a:stretch>
        </p:blipFill>
        <p:spPr>
          <a:xfrm>
            <a:off x="1181070" y="2526010"/>
            <a:ext cx="5888287" cy="2811165"/>
          </a:xfrm>
          <a:prstGeom prst="rect">
            <a:avLst/>
          </a:prstGeom>
        </p:spPr>
      </p:pic>
      <p:pic>
        <p:nvPicPr>
          <p:cNvPr id="6"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987207" y="1952030"/>
            <a:ext cx="3549264" cy="1228725"/>
          </a:xfrm>
          <a:prstGeom prst="rect">
            <a:avLst/>
          </a:prstGeom>
        </p:spPr>
      </p:pic>
      <p:sp>
        <p:nvSpPr>
          <p:cNvPr id="7" name="Text 3"/>
          <p:cNvSpPr/>
          <p:nvPr/>
        </p:nvSpPr>
        <p:spPr>
          <a:xfrm>
            <a:off x="8243086" y="2131715"/>
            <a:ext cx="3113704" cy="257373"/>
          </a:xfrm>
          <a:prstGeom prst="rect">
            <a:avLst/>
          </a:prstGeom>
          <a:noFill/>
          <a:ln/>
        </p:spPr>
        <p:txBody>
          <a:bodyPr wrap="none" lIns="0" tIns="0" rIns="0" bIns="0" rtlCol="0" anchor="t"/>
          <a:lstStyle/>
          <a:p>
            <a:pPr marL="0" indent="0" algn="l">
              <a:lnSpc>
                <a:spcPct val="104000"/>
              </a:lnSpc>
              <a:buNone/>
            </a:pPr>
            <a:r>
              <a:rPr lang="en-US" sz="1550" dirty="0">
                <a:solidFill>
                  <a:srgbClr val="000000"/>
                </a:solidFill>
                <a:latin typeface="Montserrat" pitchFamily="34" charset="0"/>
                <a:ea typeface="Montserrat" pitchFamily="34" charset="-122"/>
                <a:cs typeface="Montserrat" pitchFamily="34" charset="-120"/>
              </a:rPr>
              <a:t>🔐</a:t>
            </a:r>
            <a:r>
              <a:rPr lang="en-US" sz="1550" dirty="0">
                <a:solidFill>
                  <a:srgbClr val="DCD7E5"/>
                </a:solidFill>
                <a:latin typeface="Montserrat" pitchFamily="34" charset="0"/>
                <a:ea typeface="Montserrat" pitchFamily="34" charset="-122"/>
                <a:cs typeface="Montserrat" pitchFamily="34" charset="-120"/>
              </a:rPr>
              <a:t> Authentication Flow</a:t>
            </a:r>
            <a:endParaRPr lang="en-US" sz="1550" dirty="0"/>
          </a:p>
        </p:txBody>
      </p:sp>
      <p:sp>
        <p:nvSpPr>
          <p:cNvPr id="8" name="Text 4"/>
          <p:cNvSpPr/>
          <p:nvPr/>
        </p:nvSpPr>
        <p:spPr>
          <a:xfrm>
            <a:off x="8243086" y="2525613"/>
            <a:ext cx="3113704" cy="475456"/>
          </a:xfrm>
          <a:prstGeom prst="rect">
            <a:avLst/>
          </a:prstGeom>
          <a:noFill/>
          <a:ln/>
        </p:spPr>
        <p:txBody>
          <a:bodyPr wrap="square" lIns="0" tIns="0" rIns="0" bIns="0" rtlCol="0" anchor="t">
            <a:normAutofit/>
          </a:bodyPr>
          <a:lstStyle/>
          <a:p>
            <a:pPr marL="0" indent="0" algn="l">
              <a:lnSpc>
                <a:spcPct val="123000"/>
              </a:lnSpc>
              <a:buNone/>
            </a:pPr>
            <a:r>
              <a:rPr lang="en-US" sz="1250" dirty="0">
                <a:solidFill>
                  <a:srgbClr val="DCD7E5"/>
                </a:solidFill>
                <a:latin typeface="Heebo Light" pitchFamily="34" charset="0"/>
                <a:ea typeface="Heebo Light" pitchFamily="34" charset="-122"/>
                <a:cs typeface="Heebo Light" pitchFamily="34" charset="-120"/>
              </a:rPr>
              <a:t>Registration → Login → Email OTP Verification → Secure Session</a:t>
            </a:r>
            <a:endParaRPr lang="en-US" sz="1250" dirty="0"/>
          </a:p>
        </p:txBody>
      </p:sp>
      <p:pic>
        <p:nvPicPr>
          <p:cNvPr id="9" name="Image 2"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987207" y="3317280"/>
            <a:ext cx="3549264" cy="1228725"/>
          </a:xfrm>
          <a:prstGeom prst="rect">
            <a:avLst/>
          </a:prstGeom>
        </p:spPr>
      </p:pic>
      <p:sp>
        <p:nvSpPr>
          <p:cNvPr id="10" name="Text 5"/>
          <p:cNvSpPr/>
          <p:nvPr/>
        </p:nvSpPr>
        <p:spPr>
          <a:xfrm>
            <a:off x="8243086" y="3496965"/>
            <a:ext cx="3113704" cy="257373"/>
          </a:xfrm>
          <a:prstGeom prst="rect">
            <a:avLst/>
          </a:prstGeom>
          <a:noFill/>
          <a:ln/>
        </p:spPr>
        <p:txBody>
          <a:bodyPr wrap="none" lIns="0" tIns="0" rIns="0" bIns="0" rtlCol="0" anchor="t"/>
          <a:lstStyle/>
          <a:p>
            <a:pPr marL="0" indent="0" algn="l">
              <a:lnSpc>
                <a:spcPct val="104000"/>
              </a:lnSpc>
              <a:buNone/>
            </a:pPr>
            <a:r>
              <a:rPr lang="en-US" sz="1550" dirty="0">
                <a:solidFill>
                  <a:srgbClr val="000000"/>
                </a:solidFill>
                <a:latin typeface="Montserrat" pitchFamily="34" charset="0"/>
                <a:ea typeface="Montserrat" pitchFamily="34" charset="-122"/>
                <a:cs typeface="Montserrat" pitchFamily="34" charset="-120"/>
              </a:rPr>
              <a:t>📁</a:t>
            </a:r>
            <a:r>
              <a:rPr lang="en-US" sz="1550" dirty="0">
                <a:solidFill>
                  <a:srgbClr val="DCD7E5"/>
                </a:solidFill>
                <a:latin typeface="Montserrat" pitchFamily="34" charset="0"/>
                <a:ea typeface="Montserrat" pitchFamily="34" charset="-122"/>
                <a:cs typeface="Montserrat" pitchFamily="34" charset="-120"/>
              </a:rPr>
              <a:t> Document Operations</a:t>
            </a:r>
            <a:endParaRPr lang="en-US" sz="1550" dirty="0"/>
          </a:p>
        </p:txBody>
      </p:sp>
      <p:sp>
        <p:nvSpPr>
          <p:cNvPr id="11" name="Text 6"/>
          <p:cNvSpPr/>
          <p:nvPr/>
        </p:nvSpPr>
        <p:spPr>
          <a:xfrm>
            <a:off x="8243086" y="3890863"/>
            <a:ext cx="3113704" cy="475456"/>
          </a:xfrm>
          <a:prstGeom prst="rect">
            <a:avLst/>
          </a:prstGeom>
          <a:noFill/>
          <a:ln/>
        </p:spPr>
        <p:txBody>
          <a:bodyPr wrap="square" lIns="0" tIns="0" rIns="0" bIns="0" rtlCol="0" anchor="t">
            <a:normAutofit/>
          </a:bodyPr>
          <a:lstStyle/>
          <a:p>
            <a:pPr marL="0" indent="0" algn="l">
              <a:lnSpc>
                <a:spcPct val="123000"/>
              </a:lnSpc>
              <a:buNone/>
            </a:pPr>
            <a:r>
              <a:rPr lang="en-US" sz="1250" dirty="0">
                <a:solidFill>
                  <a:srgbClr val="DCD7E5"/>
                </a:solidFill>
                <a:latin typeface="Heebo Light" pitchFamily="34" charset="0"/>
                <a:ea typeface="Heebo Light" pitchFamily="34" charset="-122"/>
                <a:cs typeface="Heebo Light" pitchFamily="34" charset="-120"/>
              </a:rPr>
              <a:t>Upload, search, download, and delete documents from a personalized dashboard</a:t>
            </a:r>
            <a:endParaRPr lang="en-US" sz="1250" dirty="0"/>
          </a:p>
        </p:txBody>
      </p:sp>
      <p:pic>
        <p:nvPicPr>
          <p:cNvPr id="12" name="Image 3"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987207" y="4682530"/>
            <a:ext cx="3549264" cy="1228725"/>
          </a:xfrm>
          <a:prstGeom prst="rect">
            <a:avLst/>
          </a:prstGeom>
        </p:spPr>
      </p:pic>
      <p:sp>
        <p:nvSpPr>
          <p:cNvPr id="13" name="Text 7"/>
          <p:cNvSpPr/>
          <p:nvPr/>
        </p:nvSpPr>
        <p:spPr>
          <a:xfrm>
            <a:off x="8243086" y="4862215"/>
            <a:ext cx="3113704" cy="257373"/>
          </a:xfrm>
          <a:prstGeom prst="rect">
            <a:avLst/>
          </a:prstGeom>
          <a:noFill/>
          <a:ln/>
        </p:spPr>
        <p:txBody>
          <a:bodyPr wrap="none" lIns="0" tIns="0" rIns="0" bIns="0" rtlCol="0" anchor="t"/>
          <a:lstStyle/>
          <a:p>
            <a:pPr marL="0" indent="0" algn="l">
              <a:lnSpc>
                <a:spcPct val="104000"/>
              </a:lnSpc>
              <a:buNone/>
            </a:pPr>
            <a:r>
              <a:rPr lang="en-US" sz="1550" dirty="0">
                <a:solidFill>
                  <a:srgbClr val="000000"/>
                </a:solidFill>
                <a:latin typeface="Montserrat" pitchFamily="34" charset="0"/>
                <a:ea typeface="Montserrat" pitchFamily="34" charset="-122"/>
                <a:cs typeface="Montserrat" pitchFamily="34" charset="-120"/>
              </a:rPr>
              <a:t>⚙️</a:t>
            </a:r>
            <a:r>
              <a:rPr lang="en-US" sz="1550" dirty="0">
                <a:solidFill>
                  <a:srgbClr val="DCD7E5"/>
                </a:solidFill>
                <a:latin typeface="Montserrat" pitchFamily="34" charset="0"/>
                <a:ea typeface="Montserrat" pitchFamily="34" charset="-122"/>
                <a:cs typeface="Montserrat" pitchFamily="34" charset="-120"/>
              </a:rPr>
              <a:t> Profile Management</a:t>
            </a:r>
            <a:endParaRPr lang="en-US" sz="1550" dirty="0"/>
          </a:p>
        </p:txBody>
      </p:sp>
      <p:sp>
        <p:nvSpPr>
          <p:cNvPr id="14" name="Text 8"/>
          <p:cNvSpPr/>
          <p:nvPr/>
        </p:nvSpPr>
        <p:spPr>
          <a:xfrm>
            <a:off x="8243086" y="5256113"/>
            <a:ext cx="3113704" cy="475456"/>
          </a:xfrm>
          <a:prstGeom prst="rect">
            <a:avLst/>
          </a:prstGeom>
          <a:noFill/>
          <a:ln/>
        </p:spPr>
        <p:txBody>
          <a:bodyPr wrap="square" lIns="0" tIns="0" rIns="0" bIns="0" rtlCol="0" anchor="t">
            <a:normAutofit/>
          </a:bodyPr>
          <a:lstStyle/>
          <a:p>
            <a:pPr marL="0" indent="0" algn="l">
              <a:lnSpc>
                <a:spcPct val="123000"/>
              </a:lnSpc>
              <a:buNone/>
            </a:pPr>
            <a:r>
              <a:rPr lang="en-US" sz="1250" dirty="0">
                <a:solidFill>
                  <a:srgbClr val="DCD7E5"/>
                </a:solidFill>
                <a:latin typeface="Heebo Light" pitchFamily="34" charset="0"/>
                <a:ea typeface="Heebo Light" pitchFamily="34" charset="-122"/>
                <a:cs typeface="Heebo Light" pitchFamily="34" charset="-120"/>
              </a:rPr>
              <a:t>Update profile details and change password securely</a:t>
            </a:r>
            <a:endParaRPr lang="en-US" sz="1250" dirty="0"/>
          </a:p>
        </p:txBody>
      </p:sp>
      <p:sp>
        <p:nvSpPr>
          <p:cNvPr id="16" name="Rectangle 15">
            <a:extLst>
              <a:ext uri="{FF2B5EF4-FFF2-40B4-BE49-F238E27FC236}">
                <a16:creationId xmlns:a16="http://schemas.microsoft.com/office/drawing/2014/main" id="{0EBE6F90-1D76-D918-CB05-633DA561D45F}"/>
              </a:ext>
            </a:extLst>
          </p:cNvPr>
          <p:cNvSpPr/>
          <p:nvPr/>
        </p:nvSpPr>
        <p:spPr>
          <a:xfrm>
            <a:off x="10954139" y="6540759"/>
            <a:ext cx="1156996" cy="233265"/>
          </a:xfrm>
          <a:prstGeom prst="rect">
            <a:avLst/>
          </a:prstGeom>
          <a:solidFill>
            <a:srgbClr val="160E37"/>
          </a:solidFill>
          <a:ln>
            <a:solidFill>
              <a:srgbClr val="160E3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661475" y="920452"/>
            <a:ext cx="2127197" cy="287139"/>
          </a:xfrm>
          <a:prstGeom prst="roundRect">
            <a:avLst>
              <a:gd name="adj" fmla="val 22118"/>
            </a:avLst>
          </a:prstGeom>
          <a:noFill/>
          <a:ln w="6350">
            <a:solidFill>
              <a:srgbClr val="481C9E"/>
            </a:solidFill>
            <a:prstDash val="solid"/>
          </a:ln>
        </p:spPr>
      </p:sp>
      <p:sp>
        <p:nvSpPr>
          <p:cNvPr id="3" name="Text 1"/>
          <p:cNvSpPr/>
          <p:nvPr/>
        </p:nvSpPr>
        <p:spPr>
          <a:xfrm>
            <a:off x="774879" y="977106"/>
            <a:ext cx="2509973" cy="173831"/>
          </a:xfrm>
          <a:prstGeom prst="rect">
            <a:avLst/>
          </a:prstGeom>
          <a:noFill/>
          <a:ln/>
        </p:spPr>
        <p:txBody>
          <a:bodyPr wrap="none" lIns="0" tIns="0" rIns="0" bIns="0" rtlCol="0" anchor="t"/>
          <a:lstStyle/>
          <a:p>
            <a:pPr marL="0" indent="0" algn="l">
              <a:lnSpc>
                <a:spcPct val="96000"/>
              </a:lnSpc>
              <a:buNone/>
            </a:pPr>
            <a:r>
              <a:rPr lang="en-US" sz="1150" dirty="0">
                <a:solidFill>
                  <a:srgbClr val="481C9E"/>
                </a:solidFill>
                <a:latin typeface="Heebo Light" pitchFamily="34" charset="0"/>
                <a:ea typeface="Heebo Light" pitchFamily="34" charset="-122"/>
                <a:cs typeface="Heebo Light" pitchFamily="34" charset="-120"/>
              </a:rPr>
              <a:t>ADMINISTRATIVE CONTROL</a:t>
            </a:r>
            <a:endParaRPr lang="en-US" sz="1150" dirty="0"/>
          </a:p>
        </p:txBody>
      </p:sp>
      <p:sp>
        <p:nvSpPr>
          <p:cNvPr id="4" name="Text 2"/>
          <p:cNvSpPr/>
          <p:nvPr/>
        </p:nvSpPr>
        <p:spPr>
          <a:xfrm>
            <a:off x="661475" y="1283196"/>
            <a:ext cx="10868745" cy="590649"/>
          </a:xfrm>
          <a:prstGeom prst="rect">
            <a:avLst/>
          </a:prstGeom>
          <a:noFill/>
          <a:ln/>
        </p:spPr>
        <p:txBody>
          <a:bodyPr wrap="none" lIns="0" tIns="0" rIns="0" bIns="0" rtlCol="0" anchor="t"/>
          <a:lstStyle/>
          <a:p>
            <a:pPr marL="0" indent="0" algn="l">
              <a:lnSpc>
                <a:spcPct val="104000"/>
              </a:lnSpc>
              <a:buNone/>
            </a:pPr>
            <a:r>
              <a:rPr lang="en-US" sz="3700" dirty="0">
                <a:solidFill>
                  <a:srgbClr val="F2F0F4"/>
                </a:solidFill>
                <a:latin typeface="Montserrat" pitchFamily="34" charset="0"/>
                <a:ea typeface="Montserrat" pitchFamily="34" charset="-122"/>
                <a:cs typeface="Montserrat" pitchFamily="34" charset="-120"/>
              </a:rPr>
              <a:t>Admin Module</a:t>
            </a:r>
            <a:endParaRPr lang="en-US" sz="3700" dirty="0"/>
          </a:p>
        </p:txBody>
      </p:sp>
      <p:sp>
        <p:nvSpPr>
          <p:cNvPr id="5" name="Shape 3"/>
          <p:cNvSpPr/>
          <p:nvPr/>
        </p:nvSpPr>
        <p:spPr>
          <a:xfrm>
            <a:off x="850482" y="2440781"/>
            <a:ext cx="189007" cy="850503"/>
          </a:xfrm>
          <a:prstGeom prst="roundRect">
            <a:avLst>
              <a:gd name="adj" fmla="val 42003"/>
            </a:avLst>
          </a:prstGeom>
          <a:solidFill>
            <a:srgbClr val="31136C"/>
          </a:solidFill>
          <a:ln w="6350">
            <a:solidFill>
              <a:srgbClr val="4A2C85"/>
            </a:solidFill>
            <a:prstDash val="solid"/>
          </a:ln>
        </p:spPr>
      </p:sp>
      <p:sp>
        <p:nvSpPr>
          <p:cNvPr id="6" name="Shape 4"/>
          <p:cNvSpPr/>
          <p:nvPr/>
        </p:nvSpPr>
        <p:spPr>
          <a:xfrm>
            <a:off x="661475" y="2316758"/>
            <a:ext cx="567021" cy="567035"/>
          </a:xfrm>
          <a:prstGeom prst="ellipse">
            <a:avLst/>
          </a:prstGeom>
          <a:solidFill>
            <a:srgbClr val="31136C"/>
          </a:solidFill>
          <a:ln w="6350">
            <a:solidFill>
              <a:srgbClr val="4A2C85"/>
            </a:solidFill>
            <a:prstDash val="solid"/>
          </a:ln>
        </p:spPr>
      </p:sp>
      <p:pic>
        <p:nvPicPr>
          <p:cNvPr id="7"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03255" y="2458541"/>
            <a:ext cx="283461" cy="283468"/>
          </a:xfrm>
          <a:prstGeom prst="rect">
            <a:avLst/>
          </a:prstGeom>
        </p:spPr>
      </p:pic>
      <p:sp>
        <p:nvSpPr>
          <p:cNvPr id="8" name="Text 5"/>
          <p:cNvSpPr/>
          <p:nvPr/>
        </p:nvSpPr>
        <p:spPr>
          <a:xfrm>
            <a:off x="1417503" y="2346325"/>
            <a:ext cx="10112717" cy="295275"/>
          </a:xfrm>
          <a:prstGeom prst="rect">
            <a:avLst/>
          </a:prstGeom>
          <a:noFill/>
          <a:ln/>
        </p:spPr>
        <p:txBody>
          <a:bodyPr wrap="none" lIns="0" tIns="0" rIns="0" bIns="0" rtlCol="0" anchor="t"/>
          <a:lstStyle/>
          <a:p>
            <a:pPr marL="0" indent="0" algn="l">
              <a:lnSpc>
                <a:spcPct val="104000"/>
              </a:lnSpc>
              <a:buNone/>
            </a:pPr>
            <a:r>
              <a:rPr lang="en-US" sz="1850" dirty="0">
                <a:solidFill>
                  <a:srgbClr val="DCD7E5"/>
                </a:solidFill>
                <a:latin typeface="Montserrat" pitchFamily="34" charset="0"/>
                <a:ea typeface="Montserrat" pitchFamily="34" charset="-122"/>
                <a:cs typeface="Montserrat" pitchFamily="34" charset="-120"/>
              </a:rPr>
              <a:t>Admin Login</a:t>
            </a:r>
            <a:endParaRPr lang="en-US" sz="1850" dirty="0"/>
          </a:p>
        </p:txBody>
      </p:sp>
      <p:sp>
        <p:nvSpPr>
          <p:cNvPr id="9" name="Text 6"/>
          <p:cNvSpPr/>
          <p:nvPr/>
        </p:nvSpPr>
        <p:spPr>
          <a:xfrm>
            <a:off x="1417503" y="2755007"/>
            <a:ext cx="10112717" cy="302419"/>
          </a:xfrm>
          <a:prstGeom prst="rect">
            <a:avLst/>
          </a:prstGeom>
          <a:noFill/>
          <a:ln/>
        </p:spPr>
        <p:txBody>
          <a:bodyPr wrap="none" lIns="0" tIns="0" rIns="0" bIns="0" rtlCol="0" anchor="t"/>
          <a:lstStyle/>
          <a:p>
            <a:pPr marL="0" indent="0" algn="l">
              <a:lnSpc>
                <a:spcPct val="133000"/>
              </a:lnSpc>
              <a:buNone/>
            </a:pPr>
            <a:r>
              <a:rPr lang="en-US" sz="1450" dirty="0">
                <a:solidFill>
                  <a:srgbClr val="DCD7E5"/>
                </a:solidFill>
                <a:latin typeface="Heebo Light" pitchFamily="34" charset="0"/>
                <a:ea typeface="Heebo Light" pitchFamily="34" charset="-122"/>
                <a:cs typeface="Heebo Light" pitchFamily="34" charset="-120"/>
              </a:rPr>
              <a:t>Dedicated, secure authentication for administrators</a:t>
            </a:r>
            <a:endParaRPr lang="en-US" sz="1450" dirty="0"/>
          </a:p>
        </p:txBody>
      </p:sp>
      <p:sp>
        <p:nvSpPr>
          <p:cNvPr id="10" name="Shape 7"/>
          <p:cNvSpPr/>
          <p:nvPr/>
        </p:nvSpPr>
        <p:spPr>
          <a:xfrm>
            <a:off x="1133943" y="3763863"/>
            <a:ext cx="189007" cy="850503"/>
          </a:xfrm>
          <a:prstGeom prst="roundRect">
            <a:avLst>
              <a:gd name="adj" fmla="val 42003"/>
            </a:avLst>
          </a:prstGeom>
          <a:solidFill>
            <a:srgbClr val="31136C"/>
          </a:solidFill>
          <a:ln w="6350">
            <a:solidFill>
              <a:srgbClr val="4A2C85"/>
            </a:solidFill>
            <a:prstDash val="solid"/>
          </a:ln>
        </p:spPr>
      </p:sp>
      <p:sp>
        <p:nvSpPr>
          <p:cNvPr id="11" name="Shape 8"/>
          <p:cNvSpPr/>
          <p:nvPr/>
        </p:nvSpPr>
        <p:spPr>
          <a:xfrm>
            <a:off x="944936" y="3639840"/>
            <a:ext cx="567021" cy="567035"/>
          </a:xfrm>
          <a:prstGeom prst="ellipse">
            <a:avLst/>
          </a:prstGeom>
          <a:solidFill>
            <a:srgbClr val="31136C"/>
          </a:solidFill>
          <a:ln w="6350">
            <a:solidFill>
              <a:srgbClr val="4A2C85"/>
            </a:solidFill>
            <a:prstDash val="solid"/>
          </a:ln>
        </p:spPr>
      </p:sp>
      <p:pic>
        <p:nvPicPr>
          <p:cNvPr id="12"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86716" y="3781623"/>
            <a:ext cx="283461" cy="283468"/>
          </a:xfrm>
          <a:prstGeom prst="rect">
            <a:avLst/>
          </a:prstGeom>
        </p:spPr>
      </p:pic>
      <p:sp>
        <p:nvSpPr>
          <p:cNvPr id="13" name="Text 9"/>
          <p:cNvSpPr/>
          <p:nvPr/>
        </p:nvSpPr>
        <p:spPr>
          <a:xfrm>
            <a:off x="1700964" y="3669407"/>
            <a:ext cx="9829256" cy="295275"/>
          </a:xfrm>
          <a:prstGeom prst="rect">
            <a:avLst/>
          </a:prstGeom>
          <a:noFill/>
          <a:ln/>
        </p:spPr>
        <p:txBody>
          <a:bodyPr wrap="none" lIns="0" tIns="0" rIns="0" bIns="0" rtlCol="0" anchor="t"/>
          <a:lstStyle/>
          <a:p>
            <a:pPr marL="0" indent="0" algn="l">
              <a:lnSpc>
                <a:spcPct val="104000"/>
              </a:lnSpc>
              <a:buNone/>
            </a:pPr>
            <a:r>
              <a:rPr lang="en-US" sz="1850" dirty="0">
                <a:solidFill>
                  <a:srgbClr val="DCD7E5"/>
                </a:solidFill>
                <a:latin typeface="Montserrat" pitchFamily="34" charset="0"/>
                <a:ea typeface="Montserrat" pitchFamily="34" charset="-122"/>
                <a:cs typeface="Montserrat" pitchFamily="34" charset="-120"/>
              </a:rPr>
              <a:t>User Management</a:t>
            </a:r>
            <a:endParaRPr lang="en-US" sz="1850" dirty="0"/>
          </a:p>
        </p:txBody>
      </p:sp>
      <p:sp>
        <p:nvSpPr>
          <p:cNvPr id="14" name="Text 10"/>
          <p:cNvSpPr/>
          <p:nvPr/>
        </p:nvSpPr>
        <p:spPr>
          <a:xfrm>
            <a:off x="1700964" y="4078089"/>
            <a:ext cx="9829256" cy="302419"/>
          </a:xfrm>
          <a:prstGeom prst="rect">
            <a:avLst/>
          </a:prstGeom>
          <a:noFill/>
          <a:ln/>
        </p:spPr>
        <p:txBody>
          <a:bodyPr wrap="none" lIns="0" tIns="0" rIns="0" bIns="0" rtlCol="0" anchor="t"/>
          <a:lstStyle/>
          <a:p>
            <a:pPr marL="0" indent="0" algn="l">
              <a:lnSpc>
                <a:spcPct val="133000"/>
              </a:lnSpc>
              <a:buNone/>
            </a:pPr>
            <a:r>
              <a:rPr lang="en-US" sz="1450" dirty="0">
                <a:solidFill>
                  <a:srgbClr val="DCD7E5"/>
                </a:solidFill>
                <a:latin typeface="Heebo Light" pitchFamily="34" charset="0"/>
                <a:ea typeface="Heebo Light" pitchFamily="34" charset="-122"/>
                <a:cs typeface="Heebo Light" pitchFamily="34" charset="-120"/>
              </a:rPr>
              <a:t>Promote or delete user accounts with full control</a:t>
            </a:r>
            <a:endParaRPr lang="en-US" sz="1450" dirty="0"/>
          </a:p>
        </p:txBody>
      </p:sp>
      <p:sp>
        <p:nvSpPr>
          <p:cNvPr id="15" name="Shape 11"/>
          <p:cNvSpPr/>
          <p:nvPr/>
        </p:nvSpPr>
        <p:spPr>
          <a:xfrm>
            <a:off x="1417503" y="5086945"/>
            <a:ext cx="189007" cy="850503"/>
          </a:xfrm>
          <a:prstGeom prst="roundRect">
            <a:avLst>
              <a:gd name="adj" fmla="val 42003"/>
            </a:avLst>
          </a:prstGeom>
          <a:solidFill>
            <a:srgbClr val="31136C"/>
          </a:solidFill>
          <a:ln w="6350">
            <a:solidFill>
              <a:srgbClr val="4A2C85"/>
            </a:solidFill>
            <a:prstDash val="solid"/>
          </a:ln>
        </p:spPr>
      </p:sp>
      <p:sp>
        <p:nvSpPr>
          <p:cNvPr id="16" name="Shape 12"/>
          <p:cNvSpPr/>
          <p:nvPr/>
        </p:nvSpPr>
        <p:spPr>
          <a:xfrm>
            <a:off x="1228496" y="4962922"/>
            <a:ext cx="567021" cy="567035"/>
          </a:xfrm>
          <a:prstGeom prst="ellipse">
            <a:avLst/>
          </a:prstGeom>
          <a:solidFill>
            <a:srgbClr val="31136C"/>
          </a:solidFill>
          <a:ln w="6350">
            <a:solidFill>
              <a:srgbClr val="4A2C85"/>
            </a:solidFill>
            <a:prstDash val="solid"/>
          </a:ln>
        </p:spPr>
      </p:sp>
      <p:pic>
        <p:nvPicPr>
          <p:cNvPr id="17"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370276" y="5104705"/>
            <a:ext cx="283461" cy="283468"/>
          </a:xfrm>
          <a:prstGeom prst="rect">
            <a:avLst/>
          </a:prstGeom>
        </p:spPr>
      </p:pic>
      <p:sp>
        <p:nvSpPr>
          <p:cNvPr id="18" name="Text 13"/>
          <p:cNvSpPr/>
          <p:nvPr/>
        </p:nvSpPr>
        <p:spPr>
          <a:xfrm>
            <a:off x="1984524" y="4992489"/>
            <a:ext cx="9545696" cy="295275"/>
          </a:xfrm>
          <a:prstGeom prst="rect">
            <a:avLst/>
          </a:prstGeom>
          <a:noFill/>
          <a:ln/>
        </p:spPr>
        <p:txBody>
          <a:bodyPr wrap="none" lIns="0" tIns="0" rIns="0" bIns="0" rtlCol="0" anchor="t"/>
          <a:lstStyle/>
          <a:p>
            <a:pPr marL="0" indent="0" algn="l">
              <a:lnSpc>
                <a:spcPct val="104000"/>
              </a:lnSpc>
              <a:buNone/>
            </a:pPr>
            <a:r>
              <a:rPr lang="en-US" sz="1850" dirty="0">
                <a:solidFill>
                  <a:srgbClr val="DCD7E5"/>
                </a:solidFill>
                <a:latin typeface="Montserrat" pitchFamily="34" charset="0"/>
                <a:ea typeface="Montserrat" pitchFamily="34" charset="-122"/>
                <a:cs typeface="Montserrat" pitchFamily="34" charset="-120"/>
              </a:rPr>
              <a:t>Storage Monitoring</a:t>
            </a:r>
            <a:endParaRPr lang="en-US" sz="1850" dirty="0"/>
          </a:p>
        </p:txBody>
      </p:sp>
      <p:sp>
        <p:nvSpPr>
          <p:cNvPr id="19" name="Text 14"/>
          <p:cNvSpPr/>
          <p:nvPr/>
        </p:nvSpPr>
        <p:spPr>
          <a:xfrm>
            <a:off x="1984524" y="5401171"/>
            <a:ext cx="9545696" cy="302419"/>
          </a:xfrm>
          <a:prstGeom prst="rect">
            <a:avLst/>
          </a:prstGeom>
          <a:noFill/>
          <a:ln/>
        </p:spPr>
        <p:txBody>
          <a:bodyPr wrap="none" lIns="0" tIns="0" rIns="0" bIns="0" rtlCol="0" anchor="t"/>
          <a:lstStyle/>
          <a:p>
            <a:pPr marL="0" indent="0" algn="l">
              <a:lnSpc>
                <a:spcPct val="133000"/>
              </a:lnSpc>
              <a:buNone/>
            </a:pPr>
            <a:r>
              <a:rPr lang="en-US" sz="1450" dirty="0">
                <a:solidFill>
                  <a:srgbClr val="DCD7E5"/>
                </a:solidFill>
                <a:latin typeface="Heebo Light" pitchFamily="34" charset="0"/>
                <a:ea typeface="Heebo Light" pitchFamily="34" charset="-122"/>
                <a:cs typeface="Heebo Light" pitchFamily="34" charset="-120"/>
              </a:rPr>
              <a:t>Track AWS S3 usage and document storage metrics</a:t>
            </a:r>
            <a:endParaRPr lang="en-US" sz="1450" dirty="0"/>
          </a:p>
        </p:txBody>
      </p:sp>
      <p:sp>
        <p:nvSpPr>
          <p:cNvPr id="21" name="Rectangle 20">
            <a:extLst>
              <a:ext uri="{FF2B5EF4-FFF2-40B4-BE49-F238E27FC236}">
                <a16:creationId xmlns:a16="http://schemas.microsoft.com/office/drawing/2014/main" id="{E94AC5DF-7459-2C47-5D73-EDF5C480275C}"/>
              </a:ext>
            </a:extLst>
          </p:cNvPr>
          <p:cNvSpPr/>
          <p:nvPr/>
        </p:nvSpPr>
        <p:spPr>
          <a:xfrm>
            <a:off x="10954139" y="6540759"/>
            <a:ext cx="1156996" cy="233265"/>
          </a:xfrm>
          <a:prstGeom prst="rect">
            <a:avLst/>
          </a:prstGeom>
          <a:solidFill>
            <a:srgbClr val="160E37"/>
          </a:solidFill>
          <a:ln>
            <a:solidFill>
              <a:srgbClr val="160E3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661475" y="638076"/>
            <a:ext cx="1802164" cy="258465"/>
          </a:xfrm>
          <a:prstGeom prst="roundRect">
            <a:avLst>
              <a:gd name="adj" fmla="val 22115"/>
            </a:avLst>
          </a:prstGeom>
          <a:noFill/>
          <a:ln w="6350">
            <a:solidFill>
              <a:srgbClr val="481C9E"/>
            </a:solidFill>
            <a:prstDash val="solid"/>
          </a:ln>
        </p:spPr>
      </p:sp>
      <p:sp>
        <p:nvSpPr>
          <p:cNvPr id="3" name="Text 1"/>
          <p:cNvSpPr/>
          <p:nvPr/>
        </p:nvSpPr>
        <p:spPr>
          <a:xfrm>
            <a:off x="763469" y="689074"/>
            <a:ext cx="2207760" cy="156468"/>
          </a:xfrm>
          <a:prstGeom prst="rect">
            <a:avLst/>
          </a:prstGeom>
          <a:noFill/>
          <a:ln/>
        </p:spPr>
        <p:txBody>
          <a:bodyPr wrap="none" lIns="0" tIns="0" rIns="0" bIns="0" rtlCol="0" anchor="t"/>
          <a:lstStyle/>
          <a:p>
            <a:pPr marL="0" indent="0" algn="l">
              <a:lnSpc>
                <a:spcPct val="96000"/>
              </a:lnSpc>
              <a:buNone/>
            </a:pPr>
            <a:r>
              <a:rPr lang="en-US" sz="1050" dirty="0">
                <a:solidFill>
                  <a:srgbClr val="481C9E"/>
                </a:solidFill>
                <a:latin typeface="Heebo Light" pitchFamily="34" charset="0"/>
                <a:ea typeface="Heebo Light" pitchFamily="34" charset="-122"/>
                <a:cs typeface="Heebo Light" pitchFamily="34" charset="-120"/>
              </a:rPr>
              <a:t>CLOUD INFRASTRUCTURE</a:t>
            </a:r>
            <a:endParaRPr lang="en-US" sz="1050" dirty="0"/>
          </a:p>
        </p:txBody>
      </p:sp>
      <p:sp>
        <p:nvSpPr>
          <p:cNvPr id="4" name="Text 2"/>
          <p:cNvSpPr/>
          <p:nvPr/>
        </p:nvSpPr>
        <p:spPr>
          <a:xfrm>
            <a:off x="661475" y="957759"/>
            <a:ext cx="10868745" cy="531614"/>
          </a:xfrm>
          <a:prstGeom prst="rect">
            <a:avLst/>
          </a:prstGeom>
          <a:noFill/>
          <a:ln/>
        </p:spPr>
        <p:txBody>
          <a:bodyPr wrap="none" lIns="0" tIns="0" rIns="0" bIns="0" rtlCol="0" anchor="t"/>
          <a:lstStyle/>
          <a:p>
            <a:pPr marL="0" indent="0" algn="l">
              <a:lnSpc>
                <a:spcPct val="104000"/>
              </a:lnSpc>
              <a:buNone/>
            </a:pPr>
            <a:r>
              <a:rPr lang="en-US" sz="3300" dirty="0">
                <a:solidFill>
                  <a:srgbClr val="F2F0F4"/>
                </a:solidFill>
                <a:latin typeface="Montserrat" pitchFamily="34" charset="0"/>
                <a:ea typeface="Montserrat" pitchFamily="34" charset="-122"/>
                <a:cs typeface="Montserrat" pitchFamily="34" charset="-120"/>
              </a:rPr>
              <a:t>AWS S3 Integration</a:t>
            </a:r>
            <a:endParaRPr lang="en-US" sz="3300" dirty="0"/>
          </a:p>
        </p:txBody>
      </p:sp>
      <p:pic>
        <p:nvPicPr>
          <p:cNvPr id="5" name="Image 0" descr="preencoded.png"/>
          <p:cNvPicPr>
            <a:picLocks noChangeAspect="1"/>
          </p:cNvPicPr>
          <p:nvPr/>
        </p:nvPicPr>
        <p:blipFill>
          <a:blip r:embed="rId3"/>
          <a:stretch>
            <a:fillRect/>
          </a:stretch>
        </p:blipFill>
        <p:spPr>
          <a:xfrm>
            <a:off x="1361545" y="1718965"/>
            <a:ext cx="9468506" cy="3553023"/>
          </a:xfrm>
          <a:prstGeom prst="rect">
            <a:avLst/>
          </a:prstGeom>
        </p:spPr>
      </p:pic>
      <p:sp>
        <p:nvSpPr>
          <p:cNvPr id="6" name="Text 3"/>
          <p:cNvSpPr/>
          <p:nvPr/>
        </p:nvSpPr>
        <p:spPr>
          <a:xfrm>
            <a:off x="9011939" y="4409459"/>
            <a:ext cx="1428100" cy="275112"/>
          </a:xfrm>
          <a:prstGeom prst="rect">
            <a:avLst/>
          </a:prstGeom>
          <a:noFill/>
          <a:ln/>
        </p:spPr>
        <p:txBody>
          <a:bodyPr wrap="none" lIns="0" tIns="0" rIns="0" bIns="0" rtlCol="0" anchor="t"/>
          <a:lstStyle/>
          <a:p>
            <a:pPr marL="0" indent="0" algn="ctr">
              <a:lnSpc>
                <a:spcPct val="104000"/>
              </a:lnSpc>
              <a:buNone/>
            </a:pPr>
            <a:r>
              <a:rPr lang="en-US" sz="1700" dirty="0">
                <a:solidFill>
                  <a:srgbClr val="DCD7E5"/>
                </a:solidFill>
                <a:latin typeface="Montserrat" pitchFamily="34" charset="0"/>
                <a:ea typeface="Montserrat" pitchFamily="34" charset="-122"/>
                <a:cs typeface="Montserrat" pitchFamily="34" charset="-120"/>
              </a:rPr>
              <a:t>Download</a:t>
            </a:r>
            <a:endParaRPr lang="en-US" sz="1700" dirty="0"/>
          </a:p>
        </p:txBody>
      </p:sp>
      <p:sp>
        <p:nvSpPr>
          <p:cNvPr id="7" name="Text 4"/>
          <p:cNvSpPr/>
          <p:nvPr/>
        </p:nvSpPr>
        <p:spPr>
          <a:xfrm>
            <a:off x="7212142" y="4271903"/>
            <a:ext cx="1428100" cy="550223"/>
          </a:xfrm>
          <a:prstGeom prst="rect">
            <a:avLst/>
          </a:prstGeom>
          <a:noFill/>
          <a:ln/>
        </p:spPr>
        <p:txBody>
          <a:bodyPr wrap="square" lIns="0" tIns="0" rIns="0" bIns="0" rtlCol="0" anchor="t">
            <a:normAutofit/>
          </a:bodyPr>
          <a:lstStyle/>
          <a:p>
            <a:pPr marL="0" indent="0" algn="ctr">
              <a:lnSpc>
                <a:spcPct val="104000"/>
              </a:lnSpc>
              <a:buNone/>
            </a:pPr>
            <a:r>
              <a:rPr lang="en-US" sz="1700" dirty="0">
                <a:solidFill>
                  <a:srgbClr val="DCD7E5"/>
                </a:solidFill>
                <a:latin typeface="Montserrat" pitchFamily="34" charset="0"/>
                <a:ea typeface="Montserrat" pitchFamily="34" charset="-122"/>
                <a:cs typeface="Montserrat" pitchFamily="34" charset="-120"/>
              </a:rPr>
              <a:t>Save Metadata</a:t>
            </a:r>
            <a:endParaRPr lang="en-US" sz="1700" dirty="0"/>
          </a:p>
        </p:txBody>
      </p:sp>
      <p:sp>
        <p:nvSpPr>
          <p:cNvPr id="8" name="Text 5"/>
          <p:cNvSpPr/>
          <p:nvPr/>
        </p:nvSpPr>
        <p:spPr>
          <a:xfrm>
            <a:off x="5422126" y="4409459"/>
            <a:ext cx="1428100" cy="275112"/>
          </a:xfrm>
          <a:prstGeom prst="rect">
            <a:avLst/>
          </a:prstGeom>
          <a:noFill/>
          <a:ln/>
        </p:spPr>
        <p:txBody>
          <a:bodyPr wrap="none" lIns="0" tIns="0" rIns="0" bIns="0" rtlCol="0" anchor="t"/>
          <a:lstStyle/>
          <a:p>
            <a:pPr marL="0" indent="0" algn="ctr">
              <a:lnSpc>
                <a:spcPct val="104000"/>
              </a:lnSpc>
              <a:buNone/>
            </a:pPr>
            <a:r>
              <a:rPr lang="en-US" sz="1700" dirty="0">
                <a:solidFill>
                  <a:srgbClr val="DCD7E5"/>
                </a:solidFill>
                <a:latin typeface="Montserrat" pitchFamily="34" charset="0"/>
                <a:ea typeface="Montserrat" pitchFamily="34" charset="-122"/>
                <a:cs typeface="Montserrat" pitchFamily="34" charset="-120"/>
              </a:rPr>
              <a:t>Store</a:t>
            </a:r>
            <a:endParaRPr lang="en-US" sz="1700" dirty="0"/>
          </a:p>
        </p:txBody>
      </p:sp>
      <p:sp>
        <p:nvSpPr>
          <p:cNvPr id="9" name="Text 6"/>
          <p:cNvSpPr/>
          <p:nvPr/>
        </p:nvSpPr>
        <p:spPr>
          <a:xfrm>
            <a:off x="3632110" y="4271903"/>
            <a:ext cx="1428100" cy="550223"/>
          </a:xfrm>
          <a:prstGeom prst="rect">
            <a:avLst/>
          </a:prstGeom>
          <a:noFill/>
          <a:ln/>
        </p:spPr>
        <p:txBody>
          <a:bodyPr wrap="square" lIns="0" tIns="0" rIns="0" bIns="0" rtlCol="0" anchor="t">
            <a:normAutofit/>
          </a:bodyPr>
          <a:lstStyle/>
          <a:p>
            <a:pPr marL="0" indent="0" algn="ctr">
              <a:lnSpc>
                <a:spcPct val="104000"/>
              </a:lnSpc>
              <a:buNone/>
            </a:pPr>
            <a:r>
              <a:rPr lang="en-US" sz="1700" dirty="0">
                <a:solidFill>
                  <a:srgbClr val="DCD7E5"/>
                </a:solidFill>
                <a:latin typeface="Montserrat" pitchFamily="34" charset="0"/>
                <a:ea typeface="Montserrat" pitchFamily="34" charset="-122"/>
                <a:cs typeface="Montserrat" pitchFamily="34" charset="-120"/>
              </a:rPr>
              <a:t>Authenticate</a:t>
            </a:r>
            <a:endParaRPr lang="en-US" sz="1700" dirty="0"/>
          </a:p>
        </p:txBody>
      </p:sp>
      <p:sp>
        <p:nvSpPr>
          <p:cNvPr id="10" name="Text 7"/>
          <p:cNvSpPr/>
          <p:nvPr/>
        </p:nvSpPr>
        <p:spPr>
          <a:xfrm>
            <a:off x="1802968" y="4409459"/>
            <a:ext cx="1428100" cy="275112"/>
          </a:xfrm>
          <a:prstGeom prst="rect">
            <a:avLst/>
          </a:prstGeom>
          <a:noFill/>
          <a:ln/>
        </p:spPr>
        <p:txBody>
          <a:bodyPr wrap="none" lIns="0" tIns="0" rIns="0" bIns="0" rtlCol="0" anchor="t"/>
          <a:lstStyle/>
          <a:p>
            <a:pPr marL="0" indent="0" algn="ctr">
              <a:lnSpc>
                <a:spcPct val="104000"/>
              </a:lnSpc>
              <a:buNone/>
            </a:pPr>
            <a:r>
              <a:rPr lang="en-US" sz="1700" dirty="0">
                <a:solidFill>
                  <a:srgbClr val="DCD7E5"/>
                </a:solidFill>
                <a:latin typeface="Montserrat" pitchFamily="34" charset="0"/>
                <a:ea typeface="Montserrat" pitchFamily="34" charset="-122"/>
                <a:cs typeface="Montserrat" pitchFamily="34" charset="-120"/>
              </a:rPr>
              <a:t>Upload</a:t>
            </a:r>
            <a:endParaRPr lang="en-US" sz="1700" dirty="0"/>
          </a:p>
        </p:txBody>
      </p:sp>
      <p:sp>
        <p:nvSpPr>
          <p:cNvPr id="11" name="Text 8"/>
          <p:cNvSpPr/>
          <p:nvPr/>
        </p:nvSpPr>
        <p:spPr>
          <a:xfrm>
            <a:off x="661475" y="5444232"/>
            <a:ext cx="10868745" cy="775692"/>
          </a:xfrm>
          <a:prstGeom prst="rect">
            <a:avLst/>
          </a:prstGeom>
          <a:noFill/>
          <a:ln/>
        </p:spPr>
        <p:txBody>
          <a:bodyPr wrap="square" lIns="0" tIns="0" rIns="0" bIns="0" rtlCol="0" anchor="t">
            <a:normAutofit/>
          </a:bodyPr>
          <a:lstStyle/>
          <a:p>
            <a:pPr marL="0" indent="0" algn="l">
              <a:lnSpc>
                <a:spcPct val="127000"/>
              </a:lnSpc>
              <a:buNone/>
            </a:pPr>
            <a:r>
              <a:rPr lang="en-US" sz="1300" dirty="0">
                <a:solidFill>
                  <a:srgbClr val="DCD7E5"/>
                </a:solidFill>
                <a:latin typeface="Heebo Light" pitchFamily="34" charset="0"/>
                <a:ea typeface="Heebo Light" pitchFamily="34" charset="-122"/>
                <a:cs typeface="Heebo Light" pitchFamily="34" charset="-120"/>
              </a:rPr>
              <a:t>Every uploaded document is securely transferred to an Amazon S3 bucket. Flask manages authentication and authorization before any file operation. Document metadata — including owner, name, and timestamp — is stored in SQLite, enabling fast search and access control without querying S3 directly.</a:t>
            </a:r>
            <a:endParaRPr lang="en-US" sz="1300" dirty="0"/>
          </a:p>
        </p:txBody>
      </p:sp>
      <p:sp>
        <p:nvSpPr>
          <p:cNvPr id="13" name="Rectangle 12">
            <a:extLst>
              <a:ext uri="{FF2B5EF4-FFF2-40B4-BE49-F238E27FC236}">
                <a16:creationId xmlns:a16="http://schemas.microsoft.com/office/drawing/2014/main" id="{318A9E37-8D38-319F-9E7E-CFF4D84BE8A7}"/>
              </a:ext>
            </a:extLst>
          </p:cNvPr>
          <p:cNvSpPr/>
          <p:nvPr/>
        </p:nvSpPr>
        <p:spPr>
          <a:xfrm>
            <a:off x="10954139" y="6540759"/>
            <a:ext cx="1156996" cy="233265"/>
          </a:xfrm>
          <a:prstGeom prst="rect">
            <a:avLst/>
          </a:prstGeom>
          <a:solidFill>
            <a:srgbClr val="160E37"/>
          </a:solidFill>
          <a:ln>
            <a:solidFill>
              <a:srgbClr val="160E3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661475" y="623391"/>
            <a:ext cx="1658400" cy="243979"/>
          </a:xfrm>
          <a:prstGeom prst="roundRect">
            <a:avLst>
              <a:gd name="adj" fmla="val 22126"/>
            </a:avLst>
          </a:prstGeom>
          <a:noFill/>
          <a:ln w="6350">
            <a:solidFill>
              <a:srgbClr val="481C9E"/>
            </a:solidFill>
            <a:prstDash val="solid"/>
          </a:ln>
        </p:spPr>
      </p:sp>
      <p:sp>
        <p:nvSpPr>
          <p:cNvPr id="3" name="Text 1"/>
          <p:cNvSpPr/>
          <p:nvPr/>
        </p:nvSpPr>
        <p:spPr>
          <a:xfrm>
            <a:off x="757814" y="671513"/>
            <a:ext cx="2075307" cy="147737"/>
          </a:xfrm>
          <a:prstGeom prst="rect">
            <a:avLst/>
          </a:prstGeom>
          <a:noFill/>
          <a:ln/>
        </p:spPr>
        <p:txBody>
          <a:bodyPr wrap="none" lIns="0" tIns="0" rIns="0" bIns="0" rtlCol="0" anchor="t"/>
          <a:lstStyle/>
          <a:p>
            <a:pPr marL="0" indent="0" algn="l">
              <a:lnSpc>
                <a:spcPct val="96000"/>
              </a:lnSpc>
              <a:buNone/>
            </a:pPr>
            <a:r>
              <a:rPr lang="en-US" sz="1000" dirty="0">
                <a:solidFill>
                  <a:srgbClr val="481C9E"/>
                </a:solidFill>
                <a:latin typeface="Heebo Light" pitchFamily="34" charset="0"/>
                <a:ea typeface="Heebo Light" pitchFamily="34" charset="-122"/>
                <a:cs typeface="Heebo Light" pitchFamily="34" charset="-120"/>
              </a:rPr>
              <a:t>DEPLOYMENT STRATEGY</a:t>
            </a:r>
            <a:endParaRPr lang="en-US" sz="1000" dirty="0"/>
          </a:p>
        </p:txBody>
      </p:sp>
      <p:sp>
        <p:nvSpPr>
          <p:cNvPr id="4" name="Text 2"/>
          <p:cNvSpPr/>
          <p:nvPr/>
        </p:nvSpPr>
        <p:spPr>
          <a:xfrm>
            <a:off x="661475" y="921941"/>
            <a:ext cx="10868745" cy="502047"/>
          </a:xfrm>
          <a:prstGeom prst="rect">
            <a:avLst/>
          </a:prstGeom>
          <a:noFill/>
          <a:ln/>
        </p:spPr>
        <p:txBody>
          <a:bodyPr wrap="none" lIns="0" tIns="0" rIns="0" bIns="0" rtlCol="0" anchor="t"/>
          <a:lstStyle/>
          <a:p>
            <a:pPr marL="0" indent="0" algn="l">
              <a:lnSpc>
                <a:spcPct val="104000"/>
              </a:lnSpc>
              <a:buNone/>
            </a:pPr>
            <a:r>
              <a:rPr lang="en-US" sz="3150" dirty="0">
                <a:solidFill>
                  <a:srgbClr val="F2F0F4"/>
                </a:solidFill>
                <a:latin typeface="Montserrat" pitchFamily="34" charset="0"/>
                <a:ea typeface="Montserrat" pitchFamily="34" charset="-122"/>
                <a:cs typeface="Montserrat" pitchFamily="34" charset="-120"/>
              </a:rPr>
              <a:t>Docker Deployment</a:t>
            </a:r>
            <a:endParaRPr lang="en-US" sz="3150" dirty="0"/>
          </a:p>
        </p:txBody>
      </p:sp>
      <p:pic>
        <p:nvPicPr>
          <p:cNvPr id="5" name="Image 0" descr="preencoded.png"/>
          <p:cNvPicPr>
            <a:picLocks noChangeAspect="1"/>
          </p:cNvPicPr>
          <p:nvPr/>
        </p:nvPicPr>
        <p:blipFill>
          <a:blip r:embed="rId3"/>
          <a:stretch>
            <a:fillRect/>
          </a:stretch>
        </p:blipFill>
        <p:spPr>
          <a:xfrm>
            <a:off x="1181070" y="1782366"/>
            <a:ext cx="5888287" cy="3336727"/>
          </a:xfrm>
          <a:prstGeom prst="rect">
            <a:avLst/>
          </a:prstGeom>
        </p:spPr>
      </p:pic>
      <p:sp>
        <p:nvSpPr>
          <p:cNvPr id="6" name="Text 3"/>
          <p:cNvSpPr/>
          <p:nvPr/>
        </p:nvSpPr>
        <p:spPr>
          <a:xfrm>
            <a:off x="7987207" y="2856409"/>
            <a:ext cx="3549264" cy="1188641"/>
          </a:xfrm>
          <a:prstGeom prst="rect">
            <a:avLst/>
          </a:prstGeom>
          <a:noFill/>
          <a:ln/>
        </p:spPr>
        <p:txBody>
          <a:bodyPr wrap="square" lIns="0" tIns="0" rIns="0" bIns="0" rtlCol="0" anchor="t">
            <a:normAutofit/>
          </a:bodyPr>
          <a:lstStyle/>
          <a:p>
            <a:pPr marL="0" indent="0" algn="l">
              <a:lnSpc>
                <a:spcPct val="123000"/>
              </a:lnSpc>
              <a:buNone/>
            </a:pPr>
            <a:r>
              <a:rPr lang="en-US" sz="1250" dirty="0">
                <a:solidFill>
                  <a:srgbClr val="DCD7E5"/>
                </a:solidFill>
                <a:latin typeface="Heebo Light" pitchFamily="34" charset="0"/>
                <a:ea typeface="Heebo Light" pitchFamily="34" charset="-122"/>
                <a:cs typeface="Heebo Light" pitchFamily="34" charset="-120"/>
              </a:rPr>
              <a:t>CloudVault Eclipse is fully containerized using Docker, packaging the Flask application, dependencies, and configuration into a single portable image — ensuring consistent behavior across development, testing, and production.</a:t>
            </a:r>
            <a:endParaRPr lang="en-US" sz="1250" dirty="0"/>
          </a:p>
        </p:txBody>
      </p:sp>
      <p:pic>
        <p:nvPicPr>
          <p:cNvPr id="7"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21699" y="5431185"/>
            <a:ext cx="240996" cy="241002"/>
          </a:xfrm>
          <a:prstGeom prst="rect">
            <a:avLst/>
          </a:prstGeom>
        </p:spPr>
      </p:pic>
      <p:sp>
        <p:nvSpPr>
          <p:cNvPr id="8" name="Text 4"/>
          <p:cNvSpPr/>
          <p:nvPr/>
        </p:nvSpPr>
        <p:spPr>
          <a:xfrm>
            <a:off x="1183551" y="5426273"/>
            <a:ext cx="2987005" cy="251023"/>
          </a:xfrm>
          <a:prstGeom prst="rect">
            <a:avLst/>
          </a:prstGeom>
          <a:noFill/>
          <a:ln/>
        </p:spPr>
        <p:txBody>
          <a:bodyPr wrap="none" lIns="0" tIns="0" rIns="0" bIns="0" rtlCol="0" anchor="t"/>
          <a:lstStyle/>
          <a:p>
            <a:pPr marL="0" indent="0" algn="l">
              <a:lnSpc>
                <a:spcPct val="104000"/>
              </a:lnSpc>
              <a:buNone/>
            </a:pPr>
            <a:r>
              <a:rPr lang="en-US" sz="1550" dirty="0">
                <a:solidFill>
                  <a:srgbClr val="DCD7E5"/>
                </a:solidFill>
                <a:latin typeface="Montserrat" pitchFamily="34" charset="0"/>
                <a:ea typeface="Montserrat" pitchFamily="34" charset="-122"/>
                <a:cs typeface="Montserrat" pitchFamily="34" charset="-120"/>
              </a:rPr>
              <a:t>Easy Deployment</a:t>
            </a:r>
            <a:endParaRPr lang="en-US" sz="1550" dirty="0"/>
          </a:p>
        </p:txBody>
      </p:sp>
      <p:sp>
        <p:nvSpPr>
          <p:cNvPr id="9" name="Text 5"/>
          <p:cNvSpPr/>
          <p:nvPr/>
        </p:nvSpPr>
        <p:spPr>
          <a:xfrm>
            <a:off x="1183551" y="5759152"/>
            <a:ext cx="2987005" cy="237728"/>
          </a:xfrm>
          <a:prstGeom prst="rect">
            <a:avLst/>
          </a:prstGeom>
          <a:noFill/>
          <a:ln/>
        </p:spPr>
        <p:txBody>
          <a:bodyPr wrap="none" lIns="0" tIns="0" rIns="0" bIns="0" rtlCol="0" anchor="t"/>
          <a:lstStyle/>
          <a:p>
            <a:pPr marL="0" indent="0" algn="l">
              <a:lnSpc>
                <a:spcPct val="123000"/>
              </a:lnSpc>
              <a:buNone/>
            </a:pPr>
            <a:r>
              <a:rPr lang="en-US" sz="1250" dirty="0">
                <a:solidFill>
                  <a:srgbClr val="DCD7E5"/>
                </a:solidFill>
                <a:latin typeface="Heebo Light" pitchFamily="34" charset="0"/>
                <a:ea typeface="Heebo Light" pitchFamily="34" charset="-122"/>
                <a:cs typeface="Heebo Light" pitchFamily="34" charset="-120"/>
              </a:rPr>
              <a:t>One command to spin up the full stack</a:t>
            </a:r>
            <a:endParaRPr lang="en-US" sz="1250" dirty="0"/>
          </a:p>
        </p:txBody>
      </p:sp>
      <p:pic>
        <p:nvPicPr>
          <p:cNvPr id="10" name="Image 2"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401432" y="5431185"/>
            <a:ext cx="240996" cy="241002"/>
          </a:xfrm>
          <a:prstGeom prst="rect">
            <a:avLst/>
          </a:prstGeom>
        </p:spPr>
      </p:pic>
      <p:sp>
        <p:nvSpPr>
          <p:cNvPr id="11" name="Text 6"/>
          <p:cNvSpPr/>
          <p:nvPr/>
        </p:nvSpPr>
        <p:spPr>
          <a:xfrm>
            <a:off x="4863284" y="5426273"/>
            <a:ext cx="2987104" cy="251023"/>
          </a:xfrm>
          <a:prstGeom prst="rect">
            <a:avLst/>
          </a:prstGeom>
          <a:noFill/>
          <a:ln/>
        </p:spPr>
        <p:txBody>
          <a:bodyPr wrap="none" lIns="0" tIns="0" rIns="0" bIns="0" rtlCol="0" anchor="t"/>
          <a:lstStyle/>
          <a:p>
            <a:pPr marL="0" indent="0" algn="l">
              <a:lnSpc>
                <a:spcPct val="104000"/>
              </a:lnSpc>
              <a:buNone/>
            </a:pPr>
            <a:r>
              <a:rPr lang="en-US" sz="1550" dirty="0">
                <a:solidFill>
                  <a:srgbClr val="DCD7E5"/>
                </a:solidFill>
                <a:latin typeface="Montserrat" pitchFamily="34" charset="0"/>
                <a:ea typeface="Montserrat" pitchFamily="34" charset="-122"/>
                <a:cs typeface="Montserrat" pitchFamily="34" charset="-120"/>
              </a:rPr>
              <a:t>Portability</a:t>
            </a:r>
            <a:endParaRPr lang="en-US" sz="1550" dirty="0"/>
          </a:p>
        </p:txBody>
      </p:sp>
      <p:sp>
        <p:nvSpPr>
          <p:cNvPr id="12" name="Text 7"/>
          <p:cNvSpPr/>
          <p:nvPr/>
        </p:nvSpPr>
        <p:spPr>
          <a:xfrm>
            <a:off x="4863284" y="5759152"/>
            <a:ext cx="2987104" cy="475456"/>
          </a:xfrm>
          <a:prstGeom prst="rect">
            <a:avLst/>
          </a:prstGeom>
          <a:noFill/>
          <a:ln/>
        </p:spPr>
        <p:txBody>
          <a:bodyPr wrap="square" lIns="0" tIns="0" rIns="0" bIns="0" rtlCol="0" anchor="t">
            <a:normAutofit/>
          </a:bodyPr>
          <a:lstStyle/>
          <a:p>
            <a:pPr marL="0" indent="0" algn="l">
              <a:lnSpc>
                <a:spcPct val="123000"/>
              </a:lnSpc>
              <a:buNone/>
            </a:pPr>
            <a:r>
              <a:rPr lang="en-US" sz="1250" dirty="0">
                <a:solidFill>
                  <a:srgbClr val="DCD7E5"/>
                </a:solidFill>
                <a:latin typeface="Heebo Light" pitchFamily="34" charset="0"/>
                <a:ea typeface="Heebo Light" pitchFamily="34" charset="-122"/>
                <a:cs typeface="Heebo Light" pitchFamily="34" charset="-120"/>
              </a:rPr>
              <a:t>Runs identically on any Docker-enabled host</a:t>
            </a:r>
            <a:endParaRPr lang="en-US" sz="1250" dirty="0"/>
          </a:p>
        </p:txBody>
      </p:sp>
      <p:pic>
        <p:nvPicPr>
          <p:cNvPr id="13" name="Image 3"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081264" y="5431185"/>
            <a:ext cx="240996" cy="241002"/>
          </a:xfrm>
          <a:prstGeom prst="rect">
            <a:avLst/>
          </a:prstGeom>
        </p:spPr>
      </p:pic>
      <p:sp>
        <p:nvSpPr>
          <p:cNvPr id="14" name="Text 8"/>
          <p:cNvSpPr/>
          <p:nvPr/>
        </p:nvSpPr>
        <p:spPr>
          <a:xfrm>
            <a:off x="8543116" y="5426273"/>
            <a:ext cx="2987005" cy="251023"/>
          </a:xfrm>
          <a:prstGeom prst="rect">
            <a:avLst/>
          </a:prstGeom>
          <a:noFill/>
          <a:ln/>
        </p:spPr>
        <p:txBody>
          <a:bodyPr wrap="none" lIns="0" tIns="0" rIns="0" bIns="0" rtlCol="0" anchor="t"/>
          <a:lstStyle/>
          <a:p>
            <a:pPr marL="0" indent="0" algn="l">
              <a:lnSpc>
                <a:spcPct val="104000"/>
              </a:lnSpc>
              <a:buNone/>
            </a:pPr>
            <a:r>
              <a:rPr lang="en-US" sz="1550" dirty="0">
                <a:solidFill>
                  <a:srgbClr val="DCD7E5"/>
                </a:solidFill>
                <a:latin typeface="Montserrat" pitchFamily="34" charset="0"/>
                <a:ea typeface="Montserrat" pitchFamily="34" charset="-122"/>
                <a:cs typeface="Montserrat" pitchFamily="34" charset="-120"/>
              </a:rPr>
              <a:t>Consistency</a:t>
            </a:r>
            <a:endParaRPr lang="en-US" sz="1550" dirty="0"/>
          </a:p>
        </p:txBody>
      </p:sp>
      <p:sp>
        <p:nvSpPr>
          <p:cNvPr id="15" name="Text 9"/>
          <p:cNvSpPr/>
          <p:nvPr/>
        </p:nvSpPr>
        <p:spPr>
          <a:xfrm>
            <a:off x="8543116" y="5759152"/>
            <a:ext cx="2987005" cy="237728"/>
          </a:xfrm>
          <a:prstGeom prst="rect">
            <a:avLst/>
          </a:prstGeom>
          <a:noFill/>
          <a:ln/>
        </p:spPr>
        <p:txBody>
          <a:bodyPr wrap="none" lIns="0" tIns="0" rIns="0" bIns="0" rtlCol="0" anchor="t"/>
          <a:lstStyle/>
          <a:p>
            <a:pPr marL="0" indent="0" algn="l">
              <a:lnSpc>
                <a:spcPct val="123000"/>
              </a:lnSpc>
              <a:buNone/>
            </a:pPr>
            <a:r>
              <a:rPr lang="en-US" sz="1250" dirty="0">
                <a:solidFill>
                  <a:srgbClr val="DCD7E5"/>
                </a:solidFill>
                <a:latin typeface="Heebo Light" pitchFamily="34" charset="0"/>
                <a:ea typeface="Heebo Light" pitchFamily="34" charset="-122"/>
                <a:cs typeface="Heebo Light" pitchFamily="34" charset="-120"/>
              </a:rPr>
              <a:t>Eliminates environment-specific bugs</a:t>
            </a:r>
            <a:endParaRPr lang="en-US" sz="1250" dirty="0"/>
          </a:p>
        </p:txBody>
      </p:sp>
      <p:sp>
        <p:nvSpPr>
          <p:cNvPr id="17" name="Rectangle 16">
            <a:extLst>
              <a:ext uri="{FF2B5EF4-FFF2-40B4-BE49-F238E27FC236}">
                <a16:creationId xmlns:a16="http://schemas.microsoft.com/office/drawing/2014/main" id="{66D1CDB9-09CF-65F9-75AD-ACD22CE50BE2}"/>
              </a:ext>
            </a:extLst>
          </p:cNvPr>
          <p:cNvSpPr/>
          <p:nvPr/>
        </p:nvSpPr>
        <p:spPr>
          <a:xfrm>
            <a:off x="10954139" y="6540759"/>
            <a:ext cx="1156996" cy="233265"/>
          </a:xfrm>
          <a:prstGeom prst="rect">
            <a:avLst/>
          </a:prstGeom>
          <a:solidFill>
            <a:srgbClr val="160E37"/>
          </a:solidFill>
          <a:ln>
            <a:solidFill>
              <a:srgbClr val="160E3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619809" y="0"/>
            <a:ext cx="4571886" cy="6858000"/>
          </a:xfrm>
          <a:prstGeom prst="rect">
            <a:avLst/>
          </a:prstGeom>
        </p:spPr>
      </p:pic>
      <p:sp>
        <p:nvSpPr>
          <p:cNvPr id="3" name="Shape 0"/>
          <p:cNvSpPr/>
          <p:nvPr/>
        </p:nvSpPr>
        <p:spPr>
          <a:xfrm>
            <a:off x="661475" y="528737"/>
            <a:ext cx="764561" cy="229691"/>
          </a:xfrm>
          <a:prstGeom prst="roundRect">
            <a:avLst>
              <a:gd name="adj" fmla="val 22120"/>
            </a:avLst>
          </a:prstGeom>
          <a:solidFill>
            <a:srgbClr val="1E0C41"/>
          </a:solidFill>
          <a:ln/>
        </p:spPr>
      </p:sp>
      <p:sp>
        <p:nvSpPr>
          <p:cNvPr id="4" name="Text 1"/>
          <p:cNvSpPr/>
          <p:nvPr/>
        </p:nvSpPr>
        <p:spPr>
          <a:xfrm>
            <a:off x="752159" y="574080"/>
            <a:ext cx="1192778" cy="139005"/>
          </a:xfrm>
          <a:prstGeom prst="rect">
            <a:avLst/>
          </a:prstGeom>
          <a:noFill/>
          <a:ln/>
        </p:spPr>
        <p:txBody>
          <a:bodyPr wrap="none" lIns="0" tIns="0" rIns="0" bIns="0" rtlCol="0" anchor="t"/>
          <a:lstStyle/>
          <a:p>
            <a:pPr marL="0" indent="0" algn="l">
              <a:lnSpc>
                <a:spcPct val="96000"/>
              </a:lnSpc>
              <a:buNone/>
            </a:pPr>
            <a:r>
              <a:rPr lang="en-US" sz="950" dirty="0">
                <a:solidFill>
                  <a:srgbClr val="DCD7E5"/>
                </a:solidFill>
                <a:latin typeface="Heebo Light" pitchFamily="34" charset="0"/>
                <a:ea typeface="Heebo Light" pitchFamily="34" charset="-122"/>
                <a:cs typeface="Heebo Light" pitchFamily="34" charset="-120"/>
              </a:rPr>
              <a:t>SUMMARY</a:t>
            </a:r>
            <a:endParaRPr lang="en-US" sz="950" dirty="0"/>
          </a:p>
        </p:txBody>
      </p:sp>
      <p:sp>
        <p:nvSpPr>
          <p:cNvPr id="5" name="Text 2"/>
          <p:cNvSpPr/>
          <p:nvPr/>
        </p:nvSpPr>
        <p:spPr>
          <a:xfrm>
            <a:off x="661475" y="806748"/>
            <a:ext cx="6296860" cy="472480"/>
          </a:xfrm>
          <a:prstGeom prst="rect">
            <a:avLst/>
          </a:prstGeom>
          <a:noFill/>
          <a:ln/>
        </p:spPr>
        <p:txBody>
          <a:bodyPr wrap="none" lIns="0" tIns="0" rIns="0" bIns="0" rtlCol="0" anchor="t"/>
          <a:lstStyle/>
          <a:p>
            <a:pPr marL="0" indent="0" algn="l">
              <a:lnSpc>
                <a:spcPct val="104000"/>
              </a:lnSpc>
              <a:buNone/>
            </a:pPr>
            <a:r>
              <a:rPr lang="en-US" sz="2950" dirty="0">
                <a:solidFill>
                  <a:srgbClr val="F2F0F4"/>
                </a:solidFill>
                <a:latin typeface="Montserrat" pitchFamily="34" charset="0"/>
                <a:ea typeface="Montserrat" pitchFamily="34" charset="-122"/>
                <a:cs typeface="Montserrat" pitchFamily="34" charset="-120"/>
              </a:rPr>
              <a:t>Key Takeaways</a:t>
            </a:r>
            <a:endParaRPr lang="en-US" sz="2950" dirty="0"/>
          </a:p>
        </p:txBody>
      </p:sp>
      <p:pic>
        <p:nvPicPr>
          <p:cNvPr id="6"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61475" y="1460599"/>
            <a:ext cx="6296860" cy="907256"/>
          </a:xfrm>
          <a:prstGeom prst="rect">
            <a:avLst/>
          </a:prstGeom>
        </p:spPr>
      </p:pic>
      <p:sp>
        <p:nvSpPr>
          <p:cNvPr id="7" name="Text 3"/>
          <p:cNvSpPr/>
          <p:nvPr/>
        </p:nvSpPr>
        <p:spPr>
          <a:xfrm>
            <a:off x="952675" y="1630859"/>
            <a:ext cx="5986610" cy="236240"/>
          </a:xfrm>
          <a:prstGeom prst="rect">
            <a:avLst/>
          </a:prstGeom>
          <a:noFill/>
          <a:ln/>
        </p:spPr>
        <p:txBody>
          <a:bodyPr wrap="none" lIns="0" tIns="0" rIns="0" bIns="0" rtlCol="0" anchor="t"/>
          <a:lstStyle/>
          <a:p>
            <a:pPr marL="0" indent="0" algn="l">
              <a:lnSpc>
                <a:spcPct val="104000"/>
              </a:lnSpc>
              <a:buNone/>
            </a:pPr>
            <a:r>
              <a:rPr lang="en-US" sz="1450" dirty="0">
                <a:solidFill>
                  <a:srgbClr val="000000"/>
                </a:solidFill>
                <a:latin typeface="Montserrat" pitchFamily="34" charset="0"/>
                <a:ea typeface="Montserrat" pitchFamily="34" charset="-122"/>
                <a:cs typeface="Montserrat" pitchFamily="34" charset="-120"/>
              </a:rPr>
              <a:t>🔒</a:t>
            </a:r>
            <a:r>
              <a:rPr lang="en-US" sz="1450" dirty="0">
                <a:solidFill>
                  <a:srgbClr val="DCD7E5"/>
                </a:solidFill>
                <a:latin typeface="Montserrat" pitchFamily="34" charset="0"/>
                <a:ea typeface="Montserrat" pitchFamily="34" charset="-122"/>
                <a:cs typeface="Montserrat" pitchFamily="34" charset="-120"/>
              </a:rPr>
              <a:t> Security First</a:t>
            </a:r>
            <a:endParaRPr lang="en-US" sz="1450" dirty="0"/>
          </a:p>
        </p:txBody>
      </p:sp>
      <p:sp>
        <p:nvSpPr>
          <p:cNvPr id="8" name="Text 4"/>
          <p:cNvSpPr/>
          <p:nvPr/>
        </p:nvSpPr>
        <p:spPr>
          <a:xfrm>
            <a:off x="952675" y="1939627"/>
            <a:ext cx="5986610" cy="217686"/>
          </a:xfrm>
          <a:prstGeom prst="rect">
            <a:avLst/>
          </a:prstGeom>
          <a:noFill/>
          <a:ln/>
        </p:spPr>
        <p:txBody>
          <a:bodyPr wrap="none" lIns="0" tIns="0" rIns="0" bIns="0" rtlCol="0" anchor="t"/>
          <a:lstStyle/>
          <a:p>
            <a:pPr marL="0" indent="0" algn="l">
              <a:lnSpc>
                <a:spcPct val="120000"/>
              </a:lnSpc>
              <a:buNone/>
            </a:pPr>
            <a:r>
              <a:rPr lang="en-US" sz="1150" dirty="0">
                <a:solidFill>
                  <a:srgbClr val="DCD7E5"/>
                </a:solidFill>
                <a:latin typeface="Heebo Light" pitchFamily="34" charset="0"/>
                <a:ea typeface="Heebo Light" pitchFamily="34" charset="-122"/>
                <a:cs typeface="Heebo Light" pitchFamily="34" charset="-120"/>
              </a:rPr>
              <a:t>OTP verification, role-based access, and encrypted cloud storage</a:t>
            </a:r>
            <a:endParaRPr lang="en-US" sz="1150" dirty="0"/>
          </a:p>
        </p:txBody>
      </p:sp>
      <p:pic>
        <p:nvPicPr>
          <p:cNvPr id="9"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88283" y="2488803"/>
            <a:ext cx="6070051" cy="907256"/>
          </a:xfrm>
          <a:prstGeom prst="rect">
            <a:avLst/>
          </a:prstGeom>
        </p:spPr>
      </p:pic>
      <p:sp>
        <p:nvSpPr>
          <p:cNvPr id="10" name="Text 5"/>
          <p:cNvSpPr/>
          <p:nvPr/>
        </p:nvSpPr>
        <p:spPr>
          <a:xfrm>
            <a:off x="1179483" y="2659063"/>
            <a:ext cx="5759802" cy="236240"/>
          </a:xfrm>
          <a:prstGeom prst="rect">
            <a:avLst/>
          </a:prstGeom>
          <a:noFill/>
          <a:ln/>
        </p:spPr>
        <p:txBody>
          <a:bodyPr wrap="none" lIns="0" tIns="0" rIns="0" bIns="0" rtlCol="0" anchor="t"/>
          <a:lstStyle/>
          <a:p>
            <a:pPr marL="0" indent="0" algn="l">
              <a:lnSpc>
                <a:spcPct val="104000"/>
              </a:lnSpc>
              <a:buNone/>
            </a:pPr>
            <a:r>
              <a:rPr lang="en-US" sz="1450" dirty="0">
                <a:solidFill>
                  <a:srgbClr val="000000"/>
                </a:solidFill>
                <a:latin typeface="Montserrat" pitchFamily="34" charset="0"/>
                <a:ea typeface="Montserrat" pitchFamily="34" charset="-122"/>
                <a:cs typeface="Montserrat" pitchFamily="34" charset="-120"/>
              </a:rPr>
              <a:t>☁️</a:t>
            </a:r>
            <a:r>
              <a:rPr lang="en-US" sz="1450" dirty="0">
                <a:solidFill>
                  <a:srgbClr val="DCD7E5"/>
                </a:solidFill>
                <a:latin typeface="Montserrat" pitchFamily="34" charset="0"/>
                <a:ea typeface="Montserrat" pitchFamily="34" charset="-122"/>
                <a:cs typeface="Montserrat" pitchFamily="34" charset="-120"/>
              </a:rPr>
              <a:t> Cloud-Native</a:t>
            </a:r>
            <a:endParaRPr lang="en-US" sz="1450" dirty="0"/>
          </a:p>
        </p:txBody>
      </p:sp>
      <p:sp>
        <p:nvSpPr>
          <p:cNvPr id="11" name="Text 6"/>
          <p:cNvSpPr/>
          <p:nvPr/>
        </p:nvSpPr>
        <p:spPr>
          <a:xfrm>
            <a:off x="1179483" y="2967831"/>
            <a:ext cx="5759802" cy="217686"/>
          </a:xfrm>
          <a:prstGeom prst="rect">
            <a:avLst/>
          </a:prstGeom>
          <a:noFill/>
          <a:ln/>
        </p:spPr>
        <p:txBody>
          <a:bodyPr wrap="none" lIns="0" tIns="0" rIns="0" bIns="0" rtlCol="0" anchor="t"/>
          <a:lstStyle/>
          <a:p>
            <a:pPr marL="0" indent="0" algn="l">
              <a:lnSpc>
                <a:spcPct val="120000"/>
              </a:lnSpc>
              <a:buNone/>
            </a:pPr>
            <a:r>
              <a:rPr lang="en-US" sz="1150" dirty="0">
                <a:solidFill>
                  <a:srgbClr val="DCD7E5"/>
                </a:solidFill>
                <a:latin typeface="Heebo Light" pitchFamily="34" charset="0"/>
                <a:ea typeface="Heebo Light" pitchFamily="34" charset="-122"/>
                <a:cs typeface="Heebo Light" pitchFamily="34" charset="-120"/>
              </a:rPr>
              <a:t>Built on AWS S3 for scalable, durable document storage</a:t>
            </a:r>
            <a:endParaRPr lang="en-US" sz="1150" dirty="0"/>
          </a:p>
        </p:txBody>
      </p:sp>
      <p:pic>
        <p:nvPicPr>
          <p:cNvPr id="12"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115092" y="3517007"/>
            <a:ext cx="5843243" cy="907256"/>
          </a:xfrm>
          <a:prstGeom prst="rect">
            <a:avLst/>
          </a:prstGeom>
        </p:spPr>
      </p:pic>
      <p:sp>
        <p:nvSpPr>
          <p:cNvPr id="13" name="Text 7"/>
          <p:cNvSpPr/>
          <p:nvPr/>
        </p:nvSpPr>
        <p:spPr>
          <a:xfrm>
            <a:off x="1406291" y="3687266"/>
            <a:ext cx="5532994" cy="236240"/>
          </a:xfrm>
          <a:prstGeom prst="rect">
            <a:avLst/>
          </a:prstGeom>
          <a:noFill/>
          <a:ln/>
        </p:spPr>
        <p:txBody>
          <a:bodyPr wrap="none" lIns="0" tIns="0" rIns="0" bIns="0" rtlCol="0" anchor="t"/>
          <a:lstStyle/>
          <a:p>
            <a:pPr marL="0" indent="0" algn="l">
              <a:lnSpc>
                <a:spcPct val="104000"/>
              </a:lnSpc>
              <a:buNone/>
            </a:pPr>
            <a:r>
              <a:rPr lang="en-US" sz="1450" dirty="0">
                <a:solidFill>
                  <a:srgbClr val="000000"/>
                </a:solidFill>
                <a:latin typeface="Montserrat" pitchFamily="34" charset="0"/>
                <a:ea typeface="Montserrat" pitchFamily="34" charset="-122"/>
                <a:cs typeface="Montserrat" pitchFamily="34" charset="-120"/>
              </a:rPr>
              <a:t>🐳</a:t>
            </a:r>
            <a:r>
              <a:rPr lang="en-US" sz="1450" dirty="0">
                <a:solidFill>
                  <a:srgbClr val="DCD7E5"/>
                </a:solidFill>
                <a:latin typeface="Montserrat" pitchFamily="34" charset="0"/>
                <a:ea typeface="Montserrat" pitchFamily="34" charset="-122"/>
                <a:cs typeface="Montserrat" pitchFamily="34" charset="-120"/>
              </a:rPr>
              <a:t> Containerized</a:t>
            </a:r>
            <a:endParaRPr lang="en-US" sz="1450" dirty="0"/>
          </a:p>
        </p:txBody>
      </p:sp>
      <p:sp>
        <p:nvSpPr>
          <p:cNvPr id="14" name="Text 8"/>
          <p:cNvSpPr/>
          <p:nvPr/>
        </p:nvSpPr>
        <p:spPr>
          <a:xfrm>
            <a:off x="1406291" y="3996035"/>
            <a:ext cx="5532994" cy="217686"/>
          </a:xfrm>
          <a:prstGeom prst="rect">
            <a:avLst/>
          </a:prstGeom>
          <a:noFill/>
          <a:ln/>
        </p:spPr>
        <p:txBody>
          <a:bodyPr wrap="none" lIns="0" tIns="0" rIns="0" bIns="0" rtlCol="0" anchor="t"/>
          <a:lstStyle/>
          <a:p>
            <a:pPr marL="0" indent="0" algn="l">
              <a:lnSpc>
                <a:spcPct val="120000"/>
              </a:lnSpc>
              <a:buNone/>
            </a:pPr>
            <a:r>
              <a:rPr lang="en-US" sz="1150" dirty="0">
                <a:solidFill>
                  <a:srgbClr val="DCD7E5"/>
                </a:solidFill>
                <a:latin typeface="Heebo Light" pitchFamily="34" charset="0"/>
                <a:ea typeface="Heebo Light" pitchFamily="34" charset="-122"/>
                <a:cs typeface="Heebo Light" pitchFamily="34" charset="-120"/>
              </a:rPr>
              <a:t>Docker deployment ensures portability and consistency</a:t>
            </a:r>
            <a:endParaRPr lang="en-US" sz="1150" dirty="0"/>
          </a:p>
        </p:txBody>
      </p:sp>
      <p:pic>
        <p:nvPicPr>
          <p:cNvPr id="15"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341900" y="4545211"/>
            <a:ext cx="5616434" cy="907256"/>
          </a:xfrm>
          <a:prstGeom prst="rect">
            <a:avLst/>
          </a:prstGeom>
        </p:spPr>
      </p:pic>
      <p:sp>
        <p:nvSpPr>
          <p:cNvPr id="16" name="Text 9"/>
          <p:cNvSpPr/>
          <p:nvPr/>
        </p:nvSpPr>
        <p:spPr>
          <a:xfrm>
            <a:off x="1633100" y="4715470"/>
            <a:ext cx="5306185" cy="236240"/>
          </a:xfrm>
          <a:prstGeom prst="rect">
            <a:avLst/>
          </a:prstGeom>
          <a:noFill/>
          <a:ln/>
        </p:spPr>
        <p:txBody>
          <a:bodyPr wrap="none" lIns="0" tIns="0" rIns="0" bIns="0" rtlCol="0" anchor="t"/>
          <a:lstStyle/>
          <a:p>
            <a:pPr marL="0" indent="0" algn="l">
              <a:lnSpc>
                <a:spcPct val="104000"/>
              </a:lnSpc>
              <a:buNone/>
            </a:pPr>
            <a:r>
              <a:rPr lang="en-US" sz="1450" dirty="0">
                <a:solidFill>
                  <a:srgbClr val="000000"/>
                </a:solidFill>
                <a:latin typeface="Montserrat" pitchFamily="34" charset="0"/>
                <a:ea typeface="Montserrat" pitchFamily="34" charset="-122"/>
                <a:cs typeface="Montserrat" pitchFamily="34" charset="-120"/>
              </a:rPr>
              <a:t>👥</a:t>
            </a:r>
            <a:r>
              <a:rPr lang="en-US" sz="1450" dirty="0">
                <a:solidFill>
                  <a:srgbClr val="DCD7E5"/>
                </a:solidFill>
                <a:latin typeface="Montserrat" pitchFamily="34" charset="0"/>
                <a:ea typeface="Montserrat" pitchFamily="34" charset="-122"/>
                <a:cs typeface="Montserrat" pitchFamily="34" charset="-120"/>
              </a:rPr>
              <a:t> Role-Based</a:t>
            </a:r>
            <a:endParaRPr lang="en-US" sz="1450" dirty="0"/>
          </a:p>
        </p:txBody>
      </p:sp>
      <p:sp>
        <p:nvSpPr>
          <p:cNvPr id="17" name="Text 10"/>
          <p:cNvSpPr/>
          <p:nvPr/>
        </p:nvSpPr>
        <p:spPr>
          <a:xfrm>
            <a:off x="1633100" y="5024239"/>
            <a:ext cx="5306185" cy="217686"/>
          </a:xfrm>
          <a:prstGeom prst="rect">
            <a:avLst/>
          </a:prstGeom>
          <a:noFill/>
          <a:ln/>
        </p:spPr>
        <p:txBody>
          <a:bodyPr wrap="none" lIns="0" tIns="0" rIns="0" bIns="0" rtlCol="0" anchor="t"/>
          <a:lstStyle/>
          <a:p>
            <a:pPr marL="0" indent="0" algn="l">
              <a:lnSpc>
                <a:spcPct val="120000"/>
              </a:lnSpc>
              <a:buNone/>
            </a:pPr>
            <a:r>
              <a:rPr lang="en-US" sz="1150" dirty="0">
                <a:solidFill>
                  <a:srgbClr val="DCD7E5"/>
                </a:solidFill>
                <a:latin typeface="Heebo Light" pitchFamily="34" charset="0"/>
                <a:ea typeface="Heebo Light" pitchFamily="34" charset="-122"/>
                <a:cs typeface="Heebo Light" pitchFamily="34" charset="-120"/>
              </a:rPr>
              <a:t>Distinct Admin and User modules with granular permissions</a:t>
            </a:r>
            <a:endParaRPr lang="en-US" sz="1150" dirty="0"/>
          </a:p>
        </p:txBody>
      </p:sp>
      <p:sp>
        <p:nvSpPr>
          <p:cNvPr id="18" name="Shape 11"/>
          <p:cNvSpPr/>
          <p:nvPr/>
        </p:nvSpPr>
        <p:spPr>
          <a:xfrm>
            <a:off x="661475" y="5588496"/>
            <a:ext cx="6296860" cy="740767"/>
          </a:xfrm>
          <a:prstGeom prst="roundRect">
            <a:avLst>
              <a:gd name="adj" fmla="val 8574"/>
            </a:avLst>
          </a:prstGeom>
          <a:solidFill>
            <a:srgbClr val="31136C"/>
          </a:solidFill>
          <a:ln/>
        </p:spPr>
      </p:sp>
      <p:pic>
        <p:nvPicPr>
          <p:cNvPr id="19" name="Image 5" descr="preencoded.png"/>
          <p:cNvPicPr>
            <a:picLocks noChangeAspect="1"/>
          </p:cNvPicPr>
          <p:nvPr/>
        </p:nvPicPr>
        <p:blipFill>
          <a:blip r:embed="rId8"/>
          <a:stretch>
            <a:fillRect/>
          </a:stretch>
        </p:blipFill>
        <p:spPr>
          <a:xfrm>
            <a:off x="812680" y="5791200"/>
            <a:ext cx="189007" cy="151209"/>
          </a:xfrm>
          <a:prstGeom prst="rect">
            <a:avLst/>
          </a:prstGeom>
        </p:spPr>
      </p:pic>
      <p:sp>
        <p:nvSpPr>
          <p:cNvPr id="20" name="Text 12"/>
          <p:cNvSpPr/>
          <p:nvPr/>
        </p:nvSpPr>
        <p:spPr>
          <a:xfrm>
            <a:off x="1152893" y="5747246"/>
            <a:ext cx="5654236" cy="435372"/>
          </a:xfrm>
          <a:prstGeom prst="rect">
            <a:avLst/>
          </a:prstGeom>
          <a:noFill/>
          <a:ln/>
        </p:spPr>
        <p:txBody>
          <a:bodyPr wrap="square" lIns="0" tIns="0" rIns="0" bIns="0" rtlCol="0" anchor="t">
            <a:normAutofit/>
          </a:bodyPr>
          <a:lstStyle/>
          <a:p>
            <a:pPr marL="0" indent="0" algn="l">
              <a:lnSpc>
                <a:spcPct val="120000"/>
              </a:lnSpc>
              <a:buNone/>
            </a:pPr>
            <a:r>
              <a:rPr lang="en-US" sz="1150" dirty="0">
                <a:solidFill>
                  <a:srgbClr val="FFFFFF"/>
                </a:solidFill>
                <a:latin typeface="Heebo Light" pitchFamily="34" charset="0"/>
                <a:ea typeface="Heebo Light" pitchFamily="34" charset="-122"/>
                <a:cs typeface="Heebo Light" pitchFamily="34" charset="-120"/>
              </a:rPr>
              <a:t>CloudVault Eclipse demonstrates practical application of cloud security, full-stack development, and DevOps principles — core competencies of the .</a:t>
            </a:r>
            <a:endParaRPr lang="en-US" sz="115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661475" y="629940"/>
            <a:ext cx="1313028" cy="258465"/>
          </a:xfrm>
          <a:prstGeom prst="roundRect">
            <a:avLst>
              <a:gd name="adj" fmla="val 22115"/>
            </a:avLst>
          </a:prstGeom>
          <a:noFill/>
          <a:ln w="6350">
            <a:solidFill>
              <a:srgbClr val="481C9E"/>
            </a:solidFill>
            <a:prstDash val="solid"/>
          </a:ln>
        </p:spPr>
      </p:sp>
      <p:sp>
        <p:nvSpPr>
          <p:cNvPr id="3" name="Text 1"/>
          <p:cNvSpPr/>
          <p:nvPr/>
        </p:nvSpPr>
        <p:spPr>
          <a:xfrm>
            <a:off x="763469" y="680938"/>
            <a:ext cx="1718624" cy="156468"/>
          </a:xfrm>
          <a:prstGeom prst="rect">
            <a:avLst/>
          </a:prstGeom>
          <a:noFill/>
          <a:ln/>
        </p:spPr>
        <p:txBody>
          <a:bodyPr wrap="none" lIns="0" tIns="0" rIns="0" bIns="0" rtlCol="0" anchor="t"/>
          <a:lstStyle/>
          <a:p>
            <a:pPr marL="0" indent="0" algn="l">
              <a:lnSpc>
                <a:spcPct val="96000"/>
              </a:lnSpc>
              <a:buNone/>
            </a:pPr>
            <a:r>
              <a:rPr lang="en-US" sz="1050" dirty="0">
                <a:solidFill>
                  <a:srgbClr val="481C9E"/>
                </a:solidFill>
                <a:latin typeface="Heebo Light" pitchFamily="34" charset="0"/>
                <a:ea typeface="Heebo Light" pitchFamily="34" charset="-122"/>
                <a:cs typeface="Heebo Light" pitchFamily="34" charset="-120"/>
              </a:rPr>
              <a:t>THE ROAD AHEAD</a:t>
            </a:r>
            <a:endParaRPr lang="en-US" sz="1050" dirty="0"/>
          </a:p>
        </p:txBody>
      </p:sp>
      <p:sp>
        <p:nvSpPr>
          <p:cNvPr id="4" name="Text 2"/>
          <p:cNvSpPr/>
          <p:nvPr/>
        </p:nvSpPr>
        <p:spPr>
          <a:xfrm>
            <a:off x="661475" y="949623"/>
            <a:ext cx="10868745" cy="531614"/>
          </a:xfrm>
          <a:prstGeom prst="rect">
            <a:avLst/>
          </a:prstGeom>
          <a:noFill/>
          <a:ln/>
        </p:spPr>
        <p:txBody>
          <a:bodyPr wrap="none" lIns="0" tIns="0" rIns="0" bIns="0" rtlCol="0" anchor="t"/>
          <a:lstStyle/>
          <a:p>
            <a:pPr marL="0" indent="0" algn="l">
              <a:lnSpc>
                <a:spcPct val="104000"/>
              </a:lnSpc>
              <a:buNone/>
            </a:pPr>
            <a:r>
              <a:rPr lang="en-US" sz="3300" dirty="0">
                <a:solidFill>
                  <a:srgbClr val="F2F0F4"/>
                </a:solidFill>
                <a:latin typeface="Montserrat" pitchFamily="34" charset="0"/>
                <a:ea typeface="Montserrat" pitchFamily="34" charset="-122"/>
                <a:cs typeface="Montserrat" pitchFamily="34" charset="-120"/>
              </a:rPr>
              <a:t>Future Enhancements</a:t>
            </a:r>
            <a:endParaRPr lang="en-US" sz="3300" dirty="0"/>
          </a:p>
        </p:txBody>
      </p:sp>
      <p:sp>
        <p:nvSpPr>
          <p:cNvPr id="5" name="Text 3"/>
          <p:cNvSpPr/>
          <p:nvPr/>
        </p:nvSpPr>
        <p:spPr>
          <a:xfrm>
            <a:off x="661475" y="1710829"/>
            <a:ext cx="10868745" cy="517128"/>
          </a:xfrm>
          <a:prstGeom prst="rect">
            <a:avLst/>
          </a:prstGeom>
          <a:noFill/>
          <a:ln/>
        </p:spPr>
        <p:txBody>
          <a:bodyPr wrap="square" lIns="0" tIns="0" rIns="0" bIns="0" rtlCol="0" anchor="t">
            <a:normAutofit/>
          </a:bodyPr>
          <a:lstStyle/>
          <a:p>
            <a:pPr marL="0" indent="0" algn="l">
              <a:lnSpc>
                <a:spcPct val="127000"/>
              </a:lnSpc>
              <a:buNone/>
            </a:pPr>
            <a:r>
              <a:rPr lang="en-US" sz="1300" dirty="0">
                <a:solidFill>
                  <a:srgbClr val="DCD7E5"/>
                </a:solidFill>
                <a:latin typeface="Heebo Light" pitchFamily="34" charset="0"/>
                <a:ea typeface="Heebo Light" pitchFamily="34" charset="-122"/>
                <a:cs typeface="Heebo Light" pitchFamily="34" charset="-120"/>
              </a:rPr>
              <a:t>CloudVault Eclipse is built for scalability and growth. We envision several key enhancements to further empower secure collaboration and efficiency.</a:t>
            </a:r>
            <a:endParaRPr lang="en-US" sz="1300" dirty="0"/>
          </a:p>
        </p:txBody>
      </p:sp>
      <p:sp>
        <p:nvSpPr>
          <p:cNvPr id="6" name="Shape 4"/>
          <p:cNvSpPr/>
          <p:nvPr/>
        </p:nvSpPr>
        <p:spPr>
          <a:xfrm>
            <a:off x="661475" y="2400201"/>
            <a:ext cx="5357778" cy="510282"/>
          </a:xfrm>
          <a:prstGeom prst="roundRect">
            <a:avLst>
              <a:gd name="adj" fmla="val 480063"/>
            </a:avLst>
          </a:prstGeom>
          <a:solidFill>
            <a:srgbClr val="31136C"/>
          </a:solidFill>
          <a:ln w="6350">
            <a:solidFill>
              <a:srgbClr val="4A2C85"/>
            </a:solidFill>
            <a:prstDash val="solid"/>
          </a:ln>
        </p:spPr>
      </p:sp>
      <p:pic>
        <p:nvPicPr>
          <p:cNvPr id="7"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212821" y="2527697"/>
            <a:ext cx="255085" cy="255091"/>
          </a:xfrm>
          <a:prstGeom prst="rect">
            <a:avLst/>
          </a:prstGeom>
        </p:spPr>
      </p:pic>
      <p:sp>
        <p:nvSpPr>
          <p:cNvPr id="8" name="Text 5"/>
          <p:cNvSpPr/>
          <p:nvPr/>
        </p:nvSpPr>
        <p:spPr>
          <a:xfrm>
            <a:off x="831532" y="3063577"/>
            <a:ext cx="5017664" cy="265708"/>
          </a:xfrm>
          <a:prstGeom prst="rect">
            <a:avLst/>
          </a:prstGeom>
          <a:noFill/>
          <a:ln/>
        </p:spPr>
        <p:txBody>
          <a:bodyPr wrap="none" lIns="0" tIns="0" rIns="0" bIns="0" rtlCol="0" anchor="t"/>
          <a:lstStyle/>
          <a:p>
            <a:pPr marL="0" indent="0" algn="l">
              <a:lnSpc>
                <a:spcPct val="104000"/>
              </a:lnSpc>
              <a:buNone/>
            </a:pPr>
            <a:r>
              <a:rPr lang="en-US" sz="1650" dirty="0">
                <a:solidFill>
                  <a:srgbClr val="DCD7E5"/>
                </a:solidFill>
                <a:latin typeface="Montserrat" pitchFamily="34" charset="0"/>
                <a:ea typeface="Montserrat" pitchFamily="34" charset="-122"/>
                <a:cs typeface="Montserrat" pitchFamily="34" charset="-120"/>
              </a:rPr>
              <a:t>Enhanced Search &amp; OCR</a:t>
            </a:r>
            <a:endParaRPr lang="en-US" sz="1650" dirty="0"/>
          </a:p>
        </p:txBody>
      </p:sp>
      <p:sp>
        <p:nvSpPr>
          <p:cNvPr id="9" name="Text 6"/>
          <p:cNvSpPr/>
          <p:nvPr/>
        </p:nvSpPr>
        <p:spPr>
          <a:xfrm>
            <a:off x="831532" y="3421063"/>
            <a:ext cx="5017664" cy="775692"/>
          </a:xfrm>
          <a:prstGeom prst="rect">
            <a:avLst/>
          </a:prstGeom>
          <a:noFill/>
          <a:ln/>
        </p:spPr>
        <p:txBody>
          <a:bodyPr wrap="square" lIns="0" tIns="0" rIns="0" bIns="0" rtlCol="0" anchor="t">
            <a:normAutofit/>
          </a:bodyPr>
          <a:lstStyle/>
          <a:p>
            <a:pPr marL="0" indent="0" algn="l">
              <a:lnSpc>
                <a:spcPct val="127000"/>
              </a:lnSpc>
              <a:buNone/>
            </a:pPr>
            <a:r>
              <a:rPr lang="en-US" sz="1300" dirty="0">
                <a:solidFill>
                  <a:srgbClr val="DCD7E5"/>
                </a:solidFill>
                <a:latin typeface="Heebo Light" pitchFamily="34" charset="0"/>
                <a:ea typeface="Heebo Light" pitchFamily="34" charset="-122"/>
                <a:cs typeface="Heebo Light" pitchFamily="34" charset="-120"/>
              </a:rPr>
              <a:t>Implement full-text search capabilities and Optical Character Recognition (OCR) for scanned documents, making all content easily discoverable.</a:t>
            </a:r>
            <a:endParaRPr lang="en-US" sz="1300" dirty="0"/>
          </a:p>
        </p:txBody>
      </p:sp>
      <p:sp>
        <p:nvSpPr>
          <p:cNvPr id="10" name="Shape 7"/>
          <p:cNvSpPr/>
          <p:nvPr/>
        </p:nvSpPr>
        <p:spPr>
          <a:xfrm>
            <a:off x="6172343" y="2400201"/>
            <a:ext cx="5357877" cy="510282"/>
          </a:xfrm>
          <a:prstGeom prst="roundRect">
            <a:avLst>
              <a:gd name="adj" fmla="val 480063"/>
            </a:avLst>
          </a:prstGeom>
          <a:solidFill>
            <a:srgbClr val="31136C"/>
          </a:solidFill>
          <a:ln w="6350">
            <a:solidFill>
              <a:srgbClr val="4A2C85"/>
            </a:solidFill>
            <a:prstDash val="solid"/>
          </a:ln>
        </p:spPr>
      </p:sp>
      <p:pic>
        <p:nvPicPr>
          <p:cNvPr id="11"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723690" y="2527697"/>
            <a:ext cx="255085" cy="255091"/>
          </a:xfrm>
          <a:prstGeom prst="rect">
            <a:avLst/>
          </a:prstGeom>
        </p:spPr>
      </p:pic>
      <p:sp>
        <p:nvSpPr>
          <p:cNvPr id="12" name="Text 8"/>
          <p:cNvSpPr/>
          <p:nvPr/>
        </p:nvSpPr>
        <p:spPr>
          <a:xfrm>
            <a:off x="6342400" y="3063577"/>
            <a:ext cx="5017764" cy="265708"/>
          </a:xfrm>
          <a:prstGeom prst="rect">
            <a:avLst/>
          </a:prstGeom>
          <a:noFill/>
          <a:ln/>
        </p:spPr>
        <p:txBody>
          <a:bodyPr wrap="none" lIns="0" tIns="0" rIns="0" bIns="0" rtlCol="0" anchor="t"/>
          <a:lstStyle/>
          <a:p>
            <a:pPr marL="0" indent="0" algn="l">
              <a:lnSpc>
                <a:spcPct val="104000"/>
              </a:lnSpc>
              <a:buNone/>
            </a:pPr>
            <a:r>
              <a:rPr lang="en-US" sz="1650" dirty="0">
                <a:solidFill>
                  <a:srgbClr val="DCD7E5"/>
                </a:solidFill>
                <a:latin typeface="Montserrat" pitchFamily="34" charset="0"/>
                <a:ea typeface="Montserrat" pitchFamily="34" charset="-122"/>
                <a:cs typeface="Montserrat" pitchFamily="34" charset="-120"/>
              </a:rPr>
              <a:t>Advanced Collaboration</a:t>
            </a:r>
            <a:endParaRPr lang="en-US" sz="1650" dirty="0"/>
          </a:p>
        </p:txBody>
      </p:sp>
      <p:sp>
        <p:nvSpPr>
          <p:cNvPr id="13" name="Text 9"/>
          <p:cNvSpPr/>
          <p:nvPr/>
        </p:nvSpPr>
        <p:spPr>
          <a:xfrm>
            <a:off x="6342400" y="3421063"/>
            <a:ext cx="5017764" cy="517128"/>
          </a:xfrm>
          <a:prstGeom prst="rect">
            <a:avLst/>
          </a:prstGeom>
          <a:noFill/>
          <a:ln/>
        </p:spPr>
        <p:txBody>
          <a:bodyPr wrap="square" lIns="0" tIns="0" rIns="0" bIns="0" rtlCol="0" anchor="t">
            <a:normAutofit/>
          </a:bodyPr>
          <a:lstStyle/>
          <a:p>
            <a:pPr marL="0" indent="0" algn="l">
              <a:lnSpc>
                <a:spcPct val="127000"/>
              </a:lnSpc>
              <a:buNone/>
            </a:pPr>
            <a:r>
              <a:rPr lang="en-US" sz="1300" dirty="0">
                <a:solidFill>
                  <a:srgbClr val="DCD7E5"/>
                </a:solidFill>
                <a:latin typeface="Heebo Light" pitchFamily="34" charset="0"/>
                <a:ea typeface="Heebo Light" pitchFamily="34" charset="-122"/>
                <a:cs typeface="Heebo Light" pitchFamily="34" charset="-120"/>
              </a:rPr>
              <a:t>Introduce real-time co-editing, version history, and secure sharing options for external stakeholders.</a:t>
            </a:r>
            <a:endParaRPr lang="en-US" sz="1300" dirty="0"/>
          </a:p>
        </p:txBody>
      </p:sp>
      <p:sp>
        <p:nvSpPr>
          <p:cNvPr id="14" name="Shape 10"/>
          <p:cNvSpPr/>
          <p:nvPr/>
        </p:nvSpPr>
        <p:spPr>
          <a:xfrm>
            <a:off x="661475" y="4519910"/>
            <a:ext cx="5357778" cy="510282"/>
          </a:xfrm>
          <a:prstGeom prst="roundRect">
            <a:avLst>
              <a:gd name="adj" fmla="val 480063"/>
            </a:avLst>
          </a:prstGeom>
          <a:solidFill>
            <a:srgbClr val="31136C"/>
          </a:solidFill>
          <a:ln w="6350">
            <a:solidFill>
              <a:srgbClr val="4A2C85"/>
            </a:solidFill>
            <a:prstDash val="solid"/>
          </a:ln>
        </p:spPr>
      </p:sp>
      <p:pic>
        <p:nvPicPr>
          <p:cNvPr id="15"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212821" y="4647406"/>
            <a:ext cx="255085" cy="255091"/>
          </a:xfrm>
          <a:prstGeom prst="rect">
            <a:avLst/>
          </a:prstGeom>
        </p:spPr>
      </p:pic>
      <p:sp>
        <p:nvSpPr>
          <p:cNvPr id="16" name="Text 11"/>
          <p:cNvSpPr/>
          <p:nvPr/>
        </p:nvSpPr>
        <p:spPr>
          <a:xfrm>
            <a:off x="831532" y="5183287"/>
            <a:ext cx="5017664" cy="265708"/>
          </a:xfrm>
          <a:prstGeom prst="rect">
            <a:avLst/>
          </a:prstGeom>
          <a:noFill/>
          <a:ln/>
        </p:spPr>
        <p:txBody>
          <a:bodyPr wrap="none" lIns="0" tIns="0" rIns="0" bIns="0" rtlCol="0" anchor="t"/>
          <a:lstStyle/>
          <a:p>
            <a:pPr marL="0" indent="0" algn="l">
              <a:lnSpc>
                <a:spcPct val="104000"/>
              </a:lnSpc>
              <a:buNone/>
            </a:pPr>
            <a:r>
              <a:rPr lang="en-US" sz="1650" dirty="0">
                <a:solidFill>
                  <a:srgbClr val="DCD7E5"/>
                </a:solidFill>
                <a:latin typeface="Montserrat" pitchFamily="34" charset="0"/>
                <a:ea typeface="Montserrat" pitchFamily="34" charset="-122"/>
                <a:cs typeface="Montserrat" pitchFamily="34" charset="-120"/>
              </a:rPr>
              <a:t>Audit Trails &amp; Reporting</a:t>
            </a:r>
            <a:endParaRPr lang="en-US" sz="1650" dirty="0"/>
          </a:p>
        </p:txBody>
      </p:sp>
      <p:sp>
        <p:nvSpPr>
          <p:cNvPr id="17" name="Text 12"/>
          <p:cNvSpPr/>
          <p:nvPr/>
        </p:nvSpPr>
        <p:spPr>
          <a:xfrm>
            <a:off x="831532" y="5540772"/>
            <a:ext cx="5017664" cy="517128"/>
          </a:xfrm>
          <a:prstGeom prst="rect">
            <a:avLst/>
          </a:prstGeom>
          <a:noFill/>
          <a:ln/>
        </p:spPr>
        <p:txBody>
          <a:bodyPr wrap="square" lIns="0" tIns="0" rIns="0" bIns="0" rtlCol="0" anchor="t">
            <a:normAutofit/>
          </a:bodyPr>
          <a:lstStyle/>
          <a:p>
            <a:pPr marL="0" indent="0" algn="l">
              <a:lnSpc>
                <a:spcPct val="127000"/>
              </a:lnSpc>
              <a:buNone/>
            </a:pPr>
            <a:r>
              <a:rPr lang="en-US" sz="1300" dirty="0">
                <a:solidFill>
                  <a:srgbClr val="DCD7E5"/>
                </a:solidFill>
                <a:latin typeface="Heebo Light" pitchFamily="34" charset="0"/>
                <a:ea typeface="Heebo Light" pitchFamily="34" charset="-122"/>
                <a:cs typeface="Heebo Light" pitchFamily="34" charset="-120"/>
              </a:rPr>
              <a:t>Develop comprehensive logging of all document activities for compliance, security audits, and administrative oversight.</a:t>
            </a:r>
            <a:endParaRPr lang="en-US" sz="1300" dirty="0"/>
          </a:p>
        </p:txBody>
      </p:sp>
      <p:sp>
        <p:nvSpPr>
          <p:cNvPr id="18" name="Shape 13"/>
          <p:cNvSpPr/>
          <p:nvPr/>
        </p:nvSpPr>
        <p:spPr>
          <a:xfrm>
            <a:off x="6172343" y="4519910"/>
            <a:ext cx="5357877" cy="510282"/>
          </a:xfrm>
          <a:prstGeom prst="roundRect">
            <a:avLst>
              <a:gd name="adj" fmla="val 480063"/>
            </a:avLst>
          </a:prstGeom>
          <a:solidFill>
            <a:srgbClr val="31136C"/>
          </a:solidFill>
          <a:ln w="6350">
            <a:solidFill>
              <a:srgbClr val="4A2C85"/>
            </a:solidFill>
            <a:prstDash val="solid"/>
          </a:ln>
        </p:spPr>
      </p:sp>
      <p:pic>
        <p:nvPicPr>
          <p:cNvPr id="19"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8723690" y="4647406"/>
            <a:ext cx="255085" cy="255091"/>
          </a:xfrm>
          <a:prstGeom prst="rect">
            <a:avLst/>
          </a:prstGeom>
        </p:spPr>
      </p:pic>
      <p:sp>
        <p:nvSpPr>
          <p:cNvPr id="20" name="Text 14"/>
          <p:cNvSpPr/>
          <p:nvPr/>
        </p:nvSpPr>
        <p:spPr>
          <a:xfrm>
            <a:off x="6342400" y="5183287"/>
            <a:ext cx="5017764" cy="265708"/>
          </a:xfrm>
          <a:prstGeom prst="rect">
            <a:avLst/>
          </a:prstGeom>
          <a:noFill/>
          <a:ln/>
        </p:spPr>
        <p:txBody>
          <a:bodyPr wrap="none" lIns="0" tIns="0" rIns="0" bIns="0" rtlCol="0" anchor="t"/>
          <a:lstStyle/>
          <a:p>
            <a:pPr marL="0" indent="0" algn="l">
              <a:lnSpc>
                <a:spcPct val="104000"/>
              </a:lnSpc>
              <a:buNone/>
            </a:pPr>
            <a:r>
              <a:rPr lang="en-US" sz="1650" dirty="0">
                <a:solidFill>
                  <a:srgbClr val="DCD7E5"/>
                </a:solidFill>
                <a:latin typeface="Montserrat" pitchFamily="34" charset="0"/>
                <a:ea typeface="Montserrat" pitchFamily="34" charset="-122"/>
                <a:cs typeface="Montserrat" pitchFamily="34" charset="-120"/>
              </a:rPr>
              <a:t>Mobile Access</a:t>
            </a:r>
            <a:endParaRPr lang="en-US" sz="1650" dirty="0"/>
          </a:p>
        </p:txBody>
      </p:sp>
      <p:sp>
        <p:nvSpPr>
          <p:cNvPr id="21" name="Text 15"/>
          <p:cNvSpPr/>
          <p:nvPr/>
        </p:nvSpPr>
        <p:spPr>
          <a:xfrm>
            <a:off x="6342400" y="5540772"/>
            <a:ext cx="5017764" cy="517128"/>
          </a:xfrm>
          <a:prstGeom prst="rect">
            <a:avLst/>
          </a:prstGeom>
          <a:noFill/>
          <a:ln/>
        </p:spPr>
        <p:txBody>
          <a:bodyPr wrap="square" lIns="0" tIns="0" rIns="0" bIns="0" rtlCol="0" anchor="t">
            <a:normAutofit/>
          </a:bodyPr>
          <a:lstStyle/>
          <a:p>
            <a:pPr marL="0" indent="0" algn="l">
              <a:lnSpc>
                <a:spcPct val="127000"/>
              </a:lnSpc>
              <a:buNone/>
            </a:pPr>
            <a:r>
              <a:rPr lang="en-US" sz="1300" dirty="0">
                <a:solidFill>
                  <a:srgbClr val="DCD7E5"/>
                </a:solidFill>
                <a:latin typeface="Heebo Light" pitchFamily="34" charset="0"/>
                <a:ea typeface="Heebo Light" pitchFamily="34" charset="-122"/>
                <a:cs typeface="Heebo Light" pitchFamily="34" charset="-120"/>
              </a:rPr>
              <a:t>Create dedicated mobile applications for iOS and Android, ensuring secure document access on the go.</a:t>
            </a:r>
            <a:endParaRPr lang="en-US" sz="1300" dirty="0"/>
          </a:p>
        </p:txBody>
      </p:sp>
      <p:sp>
        <p:nvSpPr>
          <p:cNvPr id="23" name="Rectangle 22">
            <a:extLst>
              <a:ext uri="{FF2B5EF4-FFF2-40B4-BE49-F238E27FC236}">
                <a16:creationId xmlns:a16="http://schemas.microsoft.com/office/drawing/2014/main" id="{E643FEDA-D418-BAD5-E050-3BFD56ACAB42}"/>
              </a:ext>
            </a:extLst>
          </p:cNvPr>
          <p:cNvSpPr/>
          <p:nvPr/>
        </p:nvSpPr>
        <p:spPr>
          <a:xfrm>
            <a:off x="10954139" y="6540759"/>
            <a:ext cx="1156996" cy="233265"/>
          </a:xfrm>
          <a:prstGeom prst="rect">
            <a:avLst/>
          </a:prstGeom>
          <a:solidFill>
            <a:srgbClr val="160E37"/>
          </a:solidFill>
          <a:ln>
            <a:solidFill>
              <a:srgbClr val="160E3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1695" cy="2362696"/>
          </a:xfrm>
          <a:prstGeom prst="rect">
            <a:avLst/>
          </a:prstGeom>
        </p:spPr>
      </p:pic>
      <p:sp>
        <p:nvSpPr>
          <p:cNvPr id="3" name="Text 0"/>
          <p:cNvSpPr/>
          <p:nvPr/>
        </p:nvSpPr>
        <p:spPr>
          <a:xfrm>
            <a:off x="661475" y="2984798"/>
            <a:ext cx="10868745" cy="2362795"/>
          </a:xfrm>
          <a:prstGeom prst="rect">
            <a:avLst/>
          </a:prstGeom>
          <a:noFill/>
          <a:ln/>
        </p:spPr>
        <p:txBody>
          <a:bodyPr wrap="square" lIns="0" tIns="0" rIns="0" bIns="0" rtlCol="0" anchor="t">
            <a:normAutofit/>
          </a:bodyPr>
          <a:lstStyle/>
          <a:p>
            <a:pPr marL="0" indent="0" algn="ctr">
              <a:lnSpc>
                <a:spcPct val="104000"/>
              </a:lnSpc>
              <a:buNone/>
            </a:pPr>
            <a:r>
              <a:rPr lang="en-US" sz="7400" dirty="0">
                <a:solidFill>
                  <a:srgbClr val="F2F0F4"/>
                </a:solidFill>
                <a:latin typeface="Montserrat" pitchFamily="34" charset="0"/>
                <a:ea typeface="Montserrat" pitchFamily="34" charset="-122"/>
                <a:cs typeface="Montserrat" pitchFamily="34" charset="-120"/>
              </a:rPr>
              <a:t>Empowering Secure Collaboration</a:t>
            </a:r>
            <a:endParaRPr lang="en-US" sz="7400" dirty="0"/>
          </a:p>
        </p:txBody>
      </p:sp>
      <p:sp>
        <p:nvSpPr>
          <p:cNvPr id="4" name="Text 1"/>
          <p:cNvSpPr/>
          <p:nvPr/>
        </p:nvSpPr>
        <p:spPr>
          <a:xfrm>
            <a:off x="661475" y="5631060"/>
            <a:ext cx="10868745" cy="1142963"/>
          </a:xfrm>
          <a:prstGeom prst="rect">
            <a:avLst/>
          </a:prstGeom>
          <a:noFill/>
          <a:ln/>
        </p:spPr>
        <p:txBody>
          <a:bodyPr wrap="square" lIns="0" tIns="0" rIns="0" bIns="0" rtlCol="0" anchor="t">
            <a:normAutofit lnSpcReduction="10000"/>
          </a:bodyPr>
          <a:lstStyle/>
          <a:p>
            <a:pPr marL="0" indent="0" algn="ctr">
              <a:lnSpc>
                <a:spcPct val="133000"/>
              </a:lnSpc>
              <a:buNone/>
            </a:pPr>
            <a:r>
              <a:rPr lang="en-US" sz="1450" dirty="0">
                <a:solidFill>
                  <a:srgbClr val="DCD7E5"/>
                </a:solidFill>
                <a:latin typeface="Heebo Light" pitchFamily="34" charset="0"/>
                <a:ea typeface="Heebo Light" pitchFamily="34" charset="-122"/>
                <a:cs typeface="Heebo Light" pitchFamily="34" charset="-120"/>
              </a:rPr>
              <a:t>CloudVault Eclipse delivers on the promise of modern, secure, and accessible document management. Let's discuss how this solution can transform your data strategy.</a:t>
            </a:r>
          </a:p>
          <a:p>
            <a:pPr marL="0" indent="0" algn="ctr">
              <a:lnSpc>
                <a:spcPct val="133000"/>
              </a:lnSpc>
              <a:buNone/>
            </a:pPr>
            <a:endParaRPr lang="en-US" sz="1450" dirty="0">
              <a:solidFill>
                <a:srgbClr val="DCD7E5"/>
              </a:solidFill>
              <a:latin typeface="Heebo Light" pitchFamily="34" charset="0"/>
              <a:cs typeface="Heebo Light" pitchFamily="34" charset="-120"/>
            </a:endParaRPr>
          </a:p>
          <a:p>
            <a:pPr marL="0" indent="0" algn="ctr">
              <a:lnSpc>
                <a:spcPct val="133000"/>
              </a:lnSpc>
              <a:buNone/>
            </a:pPr>
            <a:r>
              <a:rPr lang="en-US" sz="1450" dirty="0">
                <a:solidFill>
                  <a:srgbClr val="DCD7E5"/>
                </a:solidFill>
                <a:latin typeface="Heebo Light" pitchFamily="34" charset="0"/>
                <a:cs typeface="Heebo Light" pitchFamily="34" charset="-120"/>
              </a:rPr>
              <a:t>Thank you  :   By -  Divya H Kishore </a:t>
            </a:r>
            <a:endParaRPr lang="en-US" sz="1450" dirty="0"/>
          </a:p>
        </p:txBody>
      </p:sp>
      <p:sp>
        <p:nvSpPr>
          <p:cNvPr id="6" name="Rectangle 5">
            <a:extLst>
              <a:ext uri="{FF2B5EF4-FFF2-40B4-BE49-F238E27FC236}">
                <a16:creationId xmlns:a16="http://schemas.microsoft.com/office/drawing/2014/main" id="{17688C29-5D3C-E5F6-DBEB-84B4F647FFBB}"/>
              </a:ext>
            </a:extLst>
          </p:cNvPr>
          <p:cNvSpPr/>
          <p:nvPr/>
        </p:nvSpPr>
        <p:spPr>
          <a:xfrm>
            <a:off x="10954139" y="6540759"/>
            <a:ext cx="1156996" cy="233265"/>
          </a:xfrm>
          <a:prstGeom prst="rect">
            <a:avLst/>
          </a:prstGeom>
          <a:solidFill>
            <a:srgbClr val="160E37"/>
          </a:solidFill>
          <a:ln>
            <a:solidFill>
              <a:srgbClr val="160E3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28</TotalTime>
  <Words>2466</Words>
  <Application>Microsoft Office PowerPoint</Application>
  <PresentationFormat>Widescreen</PresentationFormat>
  <Paragraphs>139</Paragraphs>
  <Slides>14</Slides>
  <Notes>14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Heebo Light</vt:lpstr>
      <vt:lpstr>Montserrat</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Celestial Tech</dc:creator>
  <cp:lastModifiedBy>yashi tashi</cp:lastModifiedBy>
  <cp:revision>4</cp:revision>
  <dcterms:created xsi:type="dcterms:W3CDTF">2026-07-15T12:39:47Z</dcterms:created>
  <dcterms:modified xsi:type="dcterms:W3CDTF">2026-07-16T11:06:38Z</dcterms:modified>
</cp:coreProperties>
</file>